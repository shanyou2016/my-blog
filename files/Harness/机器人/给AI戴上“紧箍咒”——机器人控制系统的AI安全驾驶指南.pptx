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大家好，今天聊一个现实又紧迫的问题：当AI开始写工业机器人的控制代码，谁来给它戴上‘紧箍咒’？ 我们聚焦擦窗机器人这类高实时性、高安全要求的场景，不是谈概念，而是交出一套已在产线跑通的AI代码安全驾驶指南。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这份指南分四步走：先看清AI写代码时的真实痛点；再亮出我们落地的‘红绿灯’管控方案；接着用30天实测数据说话；最后聊聊它能复制到哪儿、还能怎么升级。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现在我们直面AI代码开发的真问题——不是技术不行，而是角色焦虑。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行政怕成本失控，总工怕架构被改崩，硬件怕延迟超红线，测试怕回归爆炸。 这四种担忧背后，其实是同一个根子：AI不懂工业控制的‘生死线’。 它可能把一段关键通信代码重写得又慢又乱，而人还没反应过来，机器人就卡在百米高空了。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国外大厂实测给出警醒：没规矩的AI，代码合格率只有6%。 更危险的是，它可能悄悄调低线程优先级、乱改硬件参数——表面能跑，实际埋着卡顿、失控的雷。 这不是效率问题，是安全红线问题。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现在我们来看破局的关键一步：AI代码管控。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我们把它叫‘红绿灯系统’——不压制AI，而是划清边界。 红灯停，绿灯行，黄灯提醒，让AI在安全区内高效工作，既保稳定，又保质量。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怎么管？四招落地：立死规矩，13条红线写进规则文件；开工前‘安检’，5个问题不过关就停；规则打架时，安全延迟永远优先；还编了口诀，防AI‘金鱼记忆’忘掉底线。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工具上也动了真格：关键函数打‘禁区’标签，自动检查脚本拦截违规提交，整套工具无缝嵌入开发流程。 不是加负担，而是把风险挡在提交前，让测试少熬夜、工程师少救火。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接下来，看这套系统跑起来的效果。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30天零事故——性能红线、架构稳定性全守住；通信代码砍掉58%，从500行缩到200行；冲突从每周6次降到1次；75个老文件渐进改造，没推倒重来。 项目已进入量化管理级：风险可视、可拦、可控。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这不仅是内部优化。市面上，专为工业实时控制系统设计的AI代码管控方案几乎空白。 它真正降本：硬件少调参、测试少回归、研发少修Bug；更可复制——新项目、老机器人，都能快速适配。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最后，我们看向下一步。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计划对接真机测试工具，让AI代码上线前自动校验；持续优化规则库，覆盖更多业务场景；同时紧盯前沿，探索更智能的管控方式。 目标很实在：让AI越用越懂工业，而不是越用越让人提心吊胆。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大家最关心的几个点我们也预判了：总工担心规则限制创新？我们留了挑战通道；硬件关注负载？实测通信负载显著下降；测试问回归为何减少？因为大部分风险，已被卡在源头。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总结一句话：管住AI，不是为了不用它，而是为了让它稳稳托住工业安全的底线。 谢谢大家，欢迎随时提问。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A5478">
            <a:alpha val="100000"/>
            <a:lumMod val="20000"/>
            <a:lumOff val="8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false" flipV="false" rot="0">
            <a:off x="0" y="-8229"/>
            <a:ext cx="12192000" cy="6866230"/>
            <a:chOff x="0" y="-8229"/>
            <a:chExt cx="12192000" cy="6866230"/>
          </a:xfrm>
        </p:grpSpPr>
        <p:sp>
          <p:nvSpPr>
            <p:cNvPr name="AutoShape 3" id="3"/>
            <p:cNvSpPr/>
            <p:nvPr/>
          </p:nvSpPr>
          <p:spPr>
            <a:xfrm flipH="false" flipV="false" rot="0">
              <a:off x="0" y="0"/>
              <a:ext cx="12192000" cy="6858000"/>
            </a:xfrm>
            <a:prstGeom prst="rect">
              <a:avLst/>
            </a:prstGeom>
            <a:blipFill rotWithShape="true">
              <a:blip r:embed="rId2">
                <a:alphaModFix amt="100000"/>
                <a:alphaModFix amt="100000"/>
              </a:blip>
              <a:stretch>
                <a:fillRect l="0" r="0" t="-787" b="-787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name="AutoShape 4" id="4"/>
            <p:cNvSpPr/>
            <p:nvPr/>
          </p:nvSpPr>
          <p:spPr>
            <a:xfrm flipH="false" flipV="false" rot="0">
              <a:off x="1" y="-8229"/>
              <a:ext cx="12191999" cy="6542088"/>
            </a:xfrm>
            <a:custGeom>
              <a:rect l="l" t="t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gradFill>
              <a:gsLst>
                <a:gs pos="11999">
                  <a:srgbClr val="1A5478">
                    <a:alpha val="94901"/>
                  </a:srgbClr>
                </a:gs>
                <a:gs pos="46999">
                  <a:srgbClr val="1A5478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name="AutoShape 5" id="5"/>
            <p:cNvSpPr/>
            <p:nvPr/>
          </p:nvSpPr>
          <p:spPr>
            <a:xfrm flipH="false" flipV="false" rot="0">
              <a:off x="0" y="5018704"/>
              <a:ext cx="12192000" cy="1839297"/>
            </a:xfrm>
            <a:custGeom>
              <a:rect l="l" t="t" r="r" b="b"/>
              <a:pathLst>
                <a:path w="12192000" h="1839297">
                  <a:moveTo>
                    <a:pt x="1944410" y="196"/>
                  </a:moveTo>
                  <a:cubicBezTo>
                    <a:pt x="2781790" y="-5057"/>
                    <a:pt x="3619297" y="95552"/>
                    <a:pt x="4437291" y="302022"/>
                  </a:cubicBezTo>
                  <a:cubicBezTo>
                    <a:pt x="4437291" y="302022"/>
                    <a:pt x="4437291" y="302022"/>
                    <a:pt x="5316959" y="522907"/>
                  </a:cubicBezTo>
                  <a:cubicBezTo>
                    <a:pt x="5316959" y="522907"/>
                    <a:pt x="5316959" y="522907"/>
                    <a:pt x="7423617" y="1065374"/>
                  </a:cubicBezTo>
                  <a:cubicBezTo>
                    <a:pt x="7423617" y="1065374"/>
                    <a:pt x="7423617" y="1065374"/>
                    <a:pt x="8465585" y="1270017"/>
                  </a:cubicBezTo>
                  <a:cubicBezTo>
                    <a:pt x="9601687" y="1494150"/>
                    <a:pt x="10770249" y="1523385"/>
                    <a:pt x="11916089" y="1360970"/>
                  </a:cubicBezTo>
                  <a:cubicBezTo>
                    <a:pt x="11916089" y="1360970"/>
                    <a:pt x="11916089" y="1360970"/>
                    <a:pt x="12192000" y="1321990"/>
                  </a:cubicBezTo>
                  <a:lnTo>
                    <a:pt x="12192000" y="1839297"/>
                  </a:lnTo>
                  <a:lnTo>
                    <a:pt x="0" y="1839297"/>
                  </a:lnTo>
                  <a:lnTo>
                    <a:pt x="0" y="204573"/>
                  </a:lnTo>
                  <a:cubicBezTo>
                    <a:pt x="641898" y="72408"/>
                    <a:pt x="1293115" y="4282"/>
                    <a:pt x="1944410" y="196"/>
                  </a:cubicBezTo>
                  <a:close/>
                </a:path>
              </a:pathLst>
            </a:custGeom>
            <a:gradFill>
              <a:gsLst>
                <a:gs pos="43999">
                  <a:srgbClr val="1A5478">
                    <a:alpha val="100000"/>
                  </a:srgbClr>
                </a:gs>
                <a:gs pos="100000">
                  <a:srgbClr val="1A5478">
                    <a:alpha val="100000"/>
                    <a:lumMod val="40000"/>
                    <a:lumOff val="60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name="AutoShape 6" id="6"/>
            <p:cNvSpPr/>
            <p:nvPr/>
          </p:nvSpPr>
          <p:spPr>
            <a:xfrm flipH="false" flipV="false" rot="0">
              <a:off x="6661150" y="5519964"/>
              <a:ext cx="5530850" cy="1036638"/>
            </a:xfrm>
            <a:custGeom>
              <a:rect l="l" t="t" r="r" b="b"/>
              <a:pathLst>
                <a:path w="1704" h="319">
                  <a:moveTo>
                    <a:pt x="723" y="147"/>
                  </a:moveTo>
                  <a:cubicBezTo>
                    <a:pt x="396" y="144"/>
                    <a:pt x="396" y="144"/>
                    <a:pt x="396" y="14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235" y="178"/>
                    <a:pt x="235" y="178"/>
                    <a:pt x="235" y="178"/>
                  </a:cubicBezTo>
                  <a:cubicBezTo>
                    <a:pt x="556" y="241"/>
                    <a:pt x="556" y="241"/>
                    <a:pt x="556" y="241"/>
                  </a:cubicBezTo>
                  <a:cubicBezTo>
                    <a:pt x="906" y="310"/>
                    <a:pt x="1266" y="319"/>
                    <a:pt x="1619" y="269"/>
                  </a:cubicBezTo>
                  <a:cubicBezTo>
                    <a:pt x="1704" y="257"/>
                    <a:pt x="1704" y="257"/>
                    <a:pt x="1704" y="257"/>
                  </a:cubicBezTo>
                  <a:cubicBezTo>
                    <a:pt x="1704" y="0"/>
                    <a:pt x="1704" y="0"/>
                    <a:pt x="1704" y="0"/>
                  </a:cubicBezTo>
                  <a:cubicBezTo>
                    <a:pt x="1387" y="100"/>
                    <a:pt x="1056" y="149"/>
                    <a:pt x="723" y="147"/>
                  </a:cubicBezTo>
                  <a:close/>
                </a:path>
              </a:pathLst>
            </a:custGeom>
            <a:gradFill>
              <a:gsLst>
                <a:gs pos="28000">
                  <a:srgbClr val="1A5478">
                    <a:alpha val="65882"/>
                  </a:srgbClr>
                </a:gs>
                <a:gs pos="100000">
                  <a:srgbClr val="1A5478">
                    <a:alpha val="100000"/>
                    <a:lumMod val="40000"/>
                    <a:lumOff val="60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name="AutoShape 7" id="7"/>
            <p:cNvSpPr/>
            <p:nvPr/>
          </p:nvSpPr>
          <p:spPr>
            <a:xfrm flipH="false" flipV="false" rot="0">
              <a:off x="5424487" y="4535714"/>
              <a:ext cx="6767513" cy="1468438"/>
            </a:xfrm>
            <a:custGeom>
              <a:rect l="l" t="t" r="r" b="b"/>
              <a:pathLst>
                <a:path w="2085" h="452">
                  <a:moveTo>
                    <a:pt x="1129" y="253"/>
                  </a:moveTo>
                  <a:cubicBezTo>
                    <a:pt x="803" y="286"/>
                    <a:pt x="803" y="286"/>
                    <a:pt x="803" y="286"/>
                  </a:cubicBezTo>
                  <a:cubicBezTo>
                    <a:pt x="135" y="316"/>
                    <a:pt x="135" y="316"/>
                    <a:pt x="135" y="316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381" y="421"/>
                    <a:pt x="381" y="421"/>
                    <a:pt x="381" y="421"/>
                  </a:cubicBezTo>
                  <a:cubicBezTo>
                    <a:pt x="777" y="447"/>
                    <a:pt x="777" y="447"/>
                    <a:pt x="777" y="447"/>
                  </a:cubicBezTo>
                  <a:cubicBezTo>
                    <a:pt x="1104" y="450"/>
                    <a:pt x="1104" y="450"/>
                    <a:pt x="1104" y="450"/>
                  </a:cubicBezTo>
                  <a:cubicBezTo>
                    <a:pt x="1437" y="452"/>
                    <a:pt x="1768" y="403"/>
                    <a:pt x="2085" y="303"/>
                  </a:cubicBezTo>
                  <a:cubicBezTo>
                    <a:pt x="2085" y="0"/>
                    <a:pt x="2085" y="0"/>
                    <a:pt x="2085" y="0"/>
                  </a:cubicBezTo>
                  <a:cubicBezTo>
                    <a:pt x="1782" y="133"/>
                    <a:pt x="1459" y="219"/>
                    <a:pt x="1129" y="253"/>
                  </a:cubicBezTo>
                  <a:close/>
                </a:path>
              </a:pathLst>
            </a:custGeom>
            <a:gradFill>
              <a:gsLst>
                <a:gs pos="28000">
                  <a:srgbClr val="1A5478">
                    <a:alpha val="100000"/>
                  </a:srgbClr>
                </a:gs>
                <a:gs pos="100000">
                  <a:srgbClr val="1A5478">
                    <a:alpha val="7058"/>
                    <a:lumMod val="40000"/>
                    <a:lumOff val="6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name="AutoShape 8" id="8"/>
            <p:cNvSpPr/>
            <p:nvPr/>
          </p:nvSpPr>
          <p:spPr>
            <a:xfrm flipH="false" flipV="false" rot="0">
              <a:off x="9892976" y="2"/>
              <a:ext cx="2299024" cy="2412075"/>
            </a:xfrm>
            <a:custGeom>
              <a:rect l="l" t="t" r="r" b="b"/>
              <a:pathLst>
                <a:path w="2299024" h="2412075">
                  <a:moveTo>
                    <a:pt x="0" y="0"/>
                  </a:moveTo>
                  <a:lnTo>
                    <a:pt x="2299024" y="0"/>
                  </a:lnTo>
                  <a:lnTo>
                    <a:pt x="2299024" y="2412075"/>
                  </a:lnTo>
                  <a:lnTo>
                    <a:pt x="2289714" y="2399458"/>
                  </a:lnTo>
                  <a:cubicBezTo>
                    <a:pt x="1726559" y="1636261"/>
                    <a:pt x="1726559" y="1636261"/>
                    <a:pt x="1726559" y="1636261"/>
                  </a:cubicBezTo>
                  <a:cubicBezTo>
                    <a:pt x="1372638" y="1165381"/>
                    <a:pt x="1372638" y="1165381"/>
                    <a:pt x="1372638" y="1165381"/>
                  </a:cubicBezTo>
                  <a:cubicBezTo>
                    <a:pt x="1007577" y="677844"/>
                    <a:pt x="562298" y="294562"/>
                    <a:pt x="51131" y="24163"/>
                  </a:cubicBezTo>
                  <a:close/>
                </a:path>
              </a:pathLst>
            </a:custGeom>
            <a:gradFill>
              <a:gsLst>
                <a:gs pos="0">
                  <a:srgbClr val="1A5478">
                    <a:alpha val="0"/>
                    <a:lumMod val="60000"/>
                    <a:lumOff val="40000"/>
                  </a:srgbClr>
                </a:gs>
                <a:gs pos="100000">
                  <a:srgbClr val="1A5478">
                    <a:alpha val="100000"/>
                    <a:lumMod val="60000"/>
                    <a:lumOff val="4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1A5478">
                <a:alpha val="100000"/>
                <a:lumMod val="75000"/>
              </a:srgbClr>
            </a:gs>
            <a:gs pos="72000">
              <a:srgbClr val="1A5478">
                <a:alpha val="100000"/>
                <a:lumMod val="5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false" flipV="false" rot="0">
            <a:off x="0" y="1"/>
            <a:ext cx="12192000" cy="6857998"/>
            <a:chOff x="0" y="1"/>
            <a:chExt cx="12192000" cy="6857998"/>
          </a:xfrm>
        </p:grpSpPr>
        <p:grpSp>
          <p:nvGrpSpPr>
            <p:cNvPr name="Group 3" id="3"/>
            <p:cNvGrpSpPr/>
            <p:nvPr/>
          </p:nvGrpSpPr>
          <p:grpSpPr>
            <a:xfrm flipH="false" flipV="false" rot="0">
              <a:off x="0" y="1"/>
              <a:ext cx="1206500" cy="1605731"/>
              <a:chOff x="0" y="1"/>
              <a:chExt cx="3509740" cy="4671114"/>
            </a:xfrm>
          </p:grpSpPr>
          <p:sp>
            <p:nvSpPr>
              <p:cNvPr name="AutoShape 4" id="4"/>
              <p:cNvSpPr/>
              <p:nvPr/>
            </p:nvSpPr>
            <p:spPr>
              <a:xfrm flipH="false" flipV="false" rot="0">
                <a:off x="0" y="531050"/>
                <a:ext cx="3509740" cy="4140065"/>
              </a:xfrm>
              <a:custGeom>
                <a:rect l="l" t="t" r="r" b="b"/>
                <a:pathLst>
                  <a:path w="5172248" h="6101148">
                    <a:moveTo>
                      <a:pt x="1995878" y="0"/>
                    </a:moveTo>
                    <a:cubicBezTo>
                      <a:pt x="3750139" y="0"/>
                      <a:pt x="5172248" y="1365789"/>
                      <a:pt x="5172248" y="3050574"/>
                    </a:cubicBezTo>
                    <a:cubicBezTo>
                      <a:pt x="5172248" y="4735359"/>
                      <a:pt x="3750139" y="6101148"/>
                      <a:pt x="1995878" y="6101148"/>
                    </a:cubicBezTo>
                    <a:cubicBezTo>
                      <a:pt x="1338030" y="6101148"/>
                      <a:pt x="726891" y="5909084"/>
                      <a:pt x="219939" y="5580158"/>
                    </a:cubicBezTo>
                    <a:lnTo>
                      <a:pt x="0" y="5422204"/>
                    </a:lnTo>
                    <a:lnTo>
                      <a:pt x="0" y="678944"/>
                    </a:lnTo>
                    <a:lnTo>
                      <a:pt x="219939" y="520990"/>
                    </a:lnTo>
                    <a:cubicBezTo>
                      <a:pt x="726891" y="192064"/>
                      <a:pt x="1338030" y="0"/>
                      <a:pt x="1995878" y="0"/>
                    </a:cubicBezTo>
                    <a:close/>
                  </a:path>
                </a:pathLst>
              </a:custGeom>
              <a:solidFill>
                <a:srgbClr val="1A5478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5" id="5"/>
              <p:cNvSpPr/>
              <p:nvPr/>
            </p:nvSpPr>
            <p:spPr>
              <a:xfrm flipH="false" flipV="false" rot="0">
                <a:off x="0" y="1"/>
                <a:ext cx="2131542" cy="2105841"/>
              </a:xfrm>
              <a:custGeom>
                <a:rect l="l" t="t" r="r" b="b"/>
                <a:pathLst>
                  <a:path w="1947313" h="1923835">
                    <a:moveTo>
                      <a:pt x="1610596" y="0"/>
                    </a:moveTo>
                    <a:lnTo>
                      <a:pt x="1947314" y="0"/>
                    </a:lnTo>
                    <a:lnTo>
                      <a:pt x="1937664" y="191112"/>
                    </a:lnTo>
                    <a:cubicBezTo>
                      <a:pt x="1838825" y="1164356"/>
                      <a:pt x="1016889" y="1923835"/>
                      <a:pt x="17567" y="1923835"/>
                    </a:cubicBezTo>
                    <a:lnTo>
                      <a:pt x="0" y="1922948"/>
                    </a:lnTo>
                    <a:lnTo>
                      <a:pt x="0" y="1586230"/>
                    </a:lnTo>
                    <a:lnTo>
                      <a:pt x="17567" y="1587117"/>
                    </a:lnTo>
                    <a:cubicBezTo>
                      <a:pt x="842548" y="1587117"/>
                      <a:pt x="1521089" y="960137"/>
                      <a:pt x="1602684" y="156684"/>
                    </a:cubicBezTo>
                    <a:close/>
                  </a:path>
                </a:pathLst>
              </a:custGeom>
              <a:gradFill>
                <a:gsLst>
                  <a:gs pos="38999">
                    <a:srgbClr val="1A5478">
                      <a:alpha val="100000"/>
                    </a:srgbClr>
                  </a:gs>
                  <a:gs pos="100000">
                    <a:srgbClr val="1A5478">
                      <a:alpha val="14901"/>
                    </a:srgbClr>
                  </a:gs>
                </a:gsLst>
                <a:lin ang="10800000"/>
              </a:gradFill>
              <a:ln>
                <a:headEnd type="none"/>
                <a:tailEnd type="none"/>
              </a:ln>
            </p:spPr>
          </p:sp>
        </p:grpSp>
        <p:grpSp>
          <p:nvGrpSpPr>
            <p:cNvPr name="Group 6" id="6"/>
            <p:cNvGrpSpPr/>
            <p:nvPr/>
          </p:nvGrpSpPr>
          <p:grpSpPr>
            <a:xfrm flipH="false" flipV="false" rot="0">
              <a:off x="10858500" y="5511800"/>
              <a:ext cx="1333500" cy="1346199"/>
              <a:chOff x="10858500" y="5511800"/>
              <a:chExt cx="1333500" cy="1346199"/>
            </a:xfrm>
          </p:grpSpPr>
          <p:sp>
            <p:nvSpPr>
              <p:cNvPr name="AutoShape 7" id="7"/>
              <p:cNvSpPr/>
              <p:nvPr/>
            </p:nvSpPr>
            <p:spPr>
              <a:xfrm flipH="false" flipV="false" rot="0">
                <a:off x="10858500" y="6266282"/>
                <a:ext cx="1333500" cy="591717"/>
              </a:xfrm>
              <a:custGeom>
                <a:rect l="l" t="t" r="r" b="b"/>
                <a:pathLst>
                  <a:path w="2395738" h="1063066">
                    <a:moveTo>
                      <a:pt x="1722638" y="0"/>
                    </a:moveTo>
                    <a:cubicBezTo>
                      <a:pt x="1922502" y="0"/>
                      <a:pt x="2115271" y="30379"/>
                      <a:pt x="2296579" y="86772"/>
                    </a:cubicBezTo>
                    <a:lnTo>
                      <a:pt x="2395738" y="123065"/>
                    </a:lnTo>
                    <a:lnTo>
                      <a:pt x="2395738" y="307866"/>
                    </a:lnTo>
                    <a:lnTo>
                      <a:pt x="2244925" y="252668"/>
                    </a:lnTo>
                    <a:cubicBezTo>
                      <a:pt x="2079935" y="201350"/>
                      <a:pt x="1904515" y="173705"/>
                      <a:pt x="1722638" y="173705"/>
                    </a:cubicBezTo>
                    <a:cubicBezTo>
                      <a:pt x="1116382" y="173705"/>
                      <a:pt x="581870" y="480872"/>
                      <a:pt x="266240" y="948066"/>
                    </a:cubicBezTo>
                    <a:lnTo>
                      <a:pt x="196375" y="1063066"/>
                    </a:lnTo>
                    <a:lnTo>
                      <a:pt x="0" y="1063066"/>
                    </a:lnTo>
                    <a:lnTo>
                      <a:pt x="25525" y="1010080"/>
                    </a:lnTo>
                    <a:cubicBezTo>
                      <a:pt x="352360" y="408431"/>
                      <a:pt x="989802" y="0"/>
                      <a:pt x="172263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A5478">
                      <a:alpha val="49019"/>
                      <a:lumMod val="40000"/>
                      <a:lumOff val="60000"/>
                    </a:srgbClr>
                  </a:gs>
                  <a:gs pos="100000">
                    <a:srgbClr val="1A5478">
                      <a:alpha val="50196"/>
                    </a:srgbClr>
                  </a:gs>
                </a:gsLst>
                <a:lin ang="10800000"/>
              </a:gradFill>
              <a:ln>
                <a:headEnd type="none"/>
                <a:tailEnd type="none"/>
              </a:ln>
            </p:spPr>
          </p:sp>
          <p:sp>
            <p:nvSpPr>
              <p:cNvPr name="AutoShape 8" id="8"/>
              <p:cNvSpPr/>
              <p:nvPr/>
            </p:nvSpPr>
            <p:spPr>
              <a:xfrm flipH="false" flipV="false" rot="0">
                <a:off x="12045916" y="5511800"/>
                <a:ext cx="146083" cy="275322"/>
              </a:xfrm>
              <a:custGeom>
                <a:rect l="l" t="t" r="r" b="b"/>
                <a:pathLst>
                  <a:path w="220278" h="415156">
                    <a:moveTo>
                      <a:pt x="207578" y="0"/>
                    </a:moveTo>
                    <a:lnTo>
                      <a:pt x="220278" y="1281"/>
                    </a:lnTo>
                    <a:lnTo>
                      <a:pt x="220278" y="413876"/>
                    </a:lnTo>
                    <a:lnTo>
                      <a:pt x="207578" y="415156"/>
                    </a:lnTo>
                    <a:cubicBezTo>
                      <a:pt x="92936" y="415156"/>
                      <a:pt x="0" y="322220"/>
                      <a:pt x="0" y="207578"/>
                    </a:cubicBezTo>
                    <a:cubicBezTo>
                      <a:pt x="0" y="92936"/>
                      <a:pt x="92936" y="0"/>
                      <a:pt x="207578" y="0"/>
                    </a:cubicBezTo>
                    <a:close/>
                  </a:path>
                </a:pathLst>
              </a:custGeom>
              <a:solidFill>
                <a:srgbClr val="1A5478">
                  <a:alpha val="30196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name="AutoShape 9" id="9"/>
              <p:cNvSpPr/>
              <p:nvPr/>
            </p:nvSpPr>
            <p:spPr>
              <a:xfrm flipH="false" flipV="false" rot="0">
                <a:off x="11377784" y="5938201"/>
                <a:ext cx="534344" cy="534344"/>
              </a:xfrm>
              <a:prstGeom prst="ellipse">
                <a:avLst/>
              </a:prstGeom>
              <a:gradFill>
                <a:gsLst>
                  <a:gs pos="999">
                    <a:srgbClr val="1A5478">
                      <a:alpha val="50196"/>
                      <a:lumMod val="40000"/>
                      <a:lumOff val="60000"/>
                    </a:srgbClr>
                  </a:gs>
                  <a:gs pos="91000">
                    <a:srgbClr val="1A5478">
                      <a:alpha val="100000"/>
                    </a:srgbClr>
                  </a:gs>
                </a:gsLst>
                <a:lin ang="13500000"/>
              </a:gradFill>
              <a:ln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A5478">
            <a:alpha val="100000"/>
            <a:lumMod val="20000"/>
            <a:lumOff val="8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true" flipV="false" rot="0">
            <a:off x="0" y="0"/>
            <a:ext cx="12192000" cy="6542088"/>
            <a:chOff x="0" y="0"/>
            <a:chExt cx="12192000" cy="6542088"/>
          </a:xfrm>
        </p:grpSpPr>
        <p:sp>
          <p:nvSpPr>
            <p:cNvPr name="AutoShape 3" id="3"/>
            <p:cNvSpPr/>
            <p:nvPr/>
          </p:nvSpPr>
          <p:spPr>
            <a:xfrm flipH="false" flipV="false" rot="0">
              <a:off x="0" y="0"/>
              <a:ext cx="12192000" cy="6542088"/>
            </a:xfrm>
            <a:custGeom>
              <a:rect l="l" t="t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blipFill rotWithShape="true">
              <a:blip r:embed="rId2">
                <a:alphaModFix amt="100000"/>
                <a:alphaModFix amt="100000"/>
              </a:blip>
              <a:stretch>
                <a:fillRect l="0" r="0" t="-3239" b="-3239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name="AutoShape 4" id="4"/>
            <p:cNvSpPr/>
            <p:nvPr/>
          </p:nvSpPr>
          <p:spPr>
            <a:xfrm flipH="false" flipV="false" rot="0">
              <a:off x="0" y="0"/>
              <a:ext cx="12192000" cy="6542088"/>
            </a:xfrm>
            <a:custGeom>
              <a:rect l="l" t="t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gradFill>
              <a:gsLst>
                <a:gs pos="0">
                  <a:srgbClr val="1A5478">
                    <a:alpha val="72941"/>
                  </a:srgbClr>
                </a:gs>
                <a:gs pos="81999">
                  <a:srgbClr val="1A5478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name="AutoShape 5" id="5"/>
            <p:cNvSpPr/>
            <p:nvPr/>
          </p:nvSpPr>
          <p:spPr>
            <a:xfrm flipH="false" flipV="false" rot="0">
              <a:off x="6661150" y="5505450"/>
              <a:ext cx="5530850" cy="1036638"/>
            </a:xfrm>
            <a:custGeom>
              <a:rect l="l" t="t" r="r" b="b"/>
              <a:pathLst>
                <a:path w="1704" h="319">
                  <a:moveTo>
                    <a:pt x="723" y="147"/>
                  </a:moveTo>
                  <a:cubicBezTo>
                    <a:pt x="396" y="144"/>
                    <a:pt x="396" y="144"/>
                    <a:pt x="396" y="14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235" y="178"/>
                    <a:pt x="235" y="178"/>
                    <a:pt x="235" y="178"/>
                  </a:cubicBezTo>
                  <a:cubicBezTo>
                    <a:pt x="556" y="241"/>
                    <a:pt x="556" y="241"/>
                    <a:pt x="556" y="241"/>
                  </a:cubicBezTo>
                  <a:cubicBezTo>
                    <a:pt x="906" y="310"/>
                    <a:pt x="1266" y="319"/>
                    <a:pt x="1619" y="269"/>
                  </a:cubicBezTo>
                  <a:cubicBezTo>
                    <a:pt x="1704" y="257"/>
                    <a:pt x="1704" y="257"/>
                    <a:pt x="1704" y="257"/>
                  </a:cubicBezTo>
                  <a:cubicBezTo>
                    <a:pt x="1704" y="0"/>
                    <a:pt x="1704" y="0"/>
                    <a:pt x="1704" y="0"/>
                  </a:cubicBezTo>
                  <a:cubicBezTo>
                    <a:pt x="1387" y="100"/>
                    <a:pt x="1056" y="149"/>
                    <a:pt x="723" y="147"/>
                  </a:cubicBezTo>
                  <a:close/>
                </a:path>
              </a:pathLst>
            </a:custGeom>
            <a:solidFill>
              <a:srgbClr val="1A547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name="AutoShape 6" id="6"/>
            <p:cNvSpPr/>
            <p:nvPr/>
          </p:nvSpPr>
          <p:spPr>
            <a:xfrm flipH="false" flipV="false" rot="0">
              <a:off x="5424487" y="4521200"/>
              <a:ext cx="6767513" cy="1468438"/>
            </a:xfrm>
            <a:custGeom>
              <a:rect l="l" t="t" r="r" b="b"/>
              <a:pathLst>
                <a:path w="2085" h="452">
                  <a:moveTo>
                    <a:pt x="1129" y="253"/>
                  </a:moveTo>
                  <a:cubicBezTo>
                    <a:pt x="803" y="286"/>
                    <a:pt x="803" y="286"/>
                    <a:pt x="803" y="286"/>
                  </a:cubicBezTo>
                  <a:cubicBezTo>
                    <a:pt x="135" y="316"/>
                    <a:pt x="135" y="316"/>
                    <a:pt x="135" y="316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381" y="421"/>
                    <a:pt x="381" y="421"/>
                    <a:pt x="381" y="421"/>
                  </a:cubicBezTo>
                  <a:cubicBezTo>
                    <a:pt x="777" y="447"/>
                    <a:pt x="777" y="447"/>
                    <a:pt x="777" y="447"/>
                  </a:cubicBezTo>
                  <a:cubicBezTo>
                    <a:pt x="1104" y="450"/>
                    <a:pt x="1104" y="450"/>
                    <a:pt x="1104" y="450"/>
                  </a:cubicBezTo>
                  <a:cubicBezTo>
                    <a:pt x="1437" y="452"/>
                    <a:pt x="1768" y="403"/>
                    <a:pt x="2085" y="303"/>
                  </a:cubicBezTo>
                  <a:cubicBezTo>
                    <a:pt x="2085" y="0"/>
                    <a:pt x="2085" y="0"/>
                    <a:pt x="2085" y="0"/>
                  </a:cubicBezTo>
                  <a:cubicBezTo>
                    <a:pt x="1782" y="133"/>
                    <a:pt x="1459" y="219"/>
                    <a:pt x="1129" y="253"/>
                  </a:cubicBezTo>
                  <a:close/>
                </a:path>
              </a:pathLst>
            </a:custGeom>
            <a:gradFill>
              <a:gsLst>
                <a:gs pos="0">
                  <a:srgbClr val="1A5478">
                    <a:alpha val="100000"/>
                  </a:srgbClr>
                </a:gs>
                <a:gs pos="98000">
                  <a:srgbClr val="1A5478">
                    <a:alpha val="23921"/>
                  </a:srgbClr>
                </a:gs>
              </a:gsLst>
              <a:lin ang="0"/>
            </a:gra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1A5478">
                <a:alpha val="100000"/>
                <a:lumMod val="75000"/>
              </a:srgbClr>
            </a:gs>
            <a:gs pos="72000">
              <a:srgbClr val="1A5478">
                <a:alpha val="100000"/>
                <a:lumMod val="5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false" flipV="false" rot="0">
            <a:off x="0" y="1"/>
            <a:ext cx="12192000" cy="6857998"/>
            <a:chOff x="0" y="1"/>
            <a:chExt cx="12192000" cy="6857998"/>
          </a:xfrm>
        </p:grpSpPr>
        <p:grpSp>
          <p:nvGrpSpPr>
            <p:cNvPr name="Group 3" id="3"/>
            <p:cNvGrpSpPr/>
            <p:nvPr/>
          </p:nvGrpSpPr>
          <p:grpSpPr>
            <a:xfrm flipH="false" flipV="false" rot="0">
              <a:off x="0" y="1"/>
              <a:ext cx="1206500" cy="1605731"/>
              <a:chOff x="0" y="1"/>
              <a:chExt cx="3509740" cy="4671114"/>
            </a:xfrm>
          </p:grpSpPr>
          <p:sp>
            <p:nvSpPr>
              <p:cNvPr name="AutoShape 4" id="4"/>
              <p:cNvSpPr/>
              <p:nvPr/>
            </p:nvSpPr>
            <p:spPr>
              <a:xfrm flipH="false" flipV="false" rot="0">
                <a:off x="0" y="531050"/>
                <a:ext cx="3509740" cy="4140065"/>
              </a:xfrm>
              <a:custGeom>
                <a:rect l="l" t="t" r="r" b="b"/>
                <a:pathLst>
                  <a:path w="5172248" h="6101148">
                    <a:moveTo>
                      <a:pt x="1995878" y="0"/>
                    </a:moveTo>
                    <a:cubicBezTo>
                      <a:pt x="3750139" y="0"/>
                      <a:pt x="5172248" y="1365789"/>
                      <a:pt x="5172248" y="3050574"/>
                    </a:cubicBezTo>
                    <a:cubicBezTo>
                      <a:pt x="5172248" y="4735359"/>
                      <a:pt x="3750139" y="6101148"/>
                      <a:pt x="1995878" y="6101148"/>
                    </a:cubicBezTo>
                    <a:cubicBezTo>
                      <a:pt x="1338030" y="6101148"/>
                      <a:pt x="726891" y="5909084"/>
                      <a:pt x="219939" y="5580158"/>
                    </a:cubicBezTo>
                    <a:lnTo>
                      <a:pt x="0" y="5422204"/>
                    </a:lnTo>
                    <a:lnTo>
                      <a:pt x="0" y="678944"/>
                    </a:lnTo>
                    <a:lnTo>
                      <a:pt x="219939" y="520990"/>
                    </a:lnTo>
                    <a:cubicBezTo>
                      <a:pt x="726891" y="192064"/>
                      <a:pt x="1338030" y="0"/>
                      <a:pt x="1995878" y="0"/>
                    </a:cubicBezTo>
                    <a:close/>
                  </a:path>
                </a:pathLst>
              </a:custGeom>
              <a:solidFill>
                <a:srgbClr val="1A5478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5" id="5"/>
              <p:cNvSpPr/>
              <p:nvPr/>
            </p:nvSpPr>
            <p:spPr>
              <a:xfrm flipH="false" flipV="false" rot="0">
                <a:off x="0" y="1"/>
                <a:ext cx="2131542" cy="2105841"/>
              </a:xfrm>
              <a:custGeom>
                <a:rect l="l" t="t" r="r" b="b"/>
                <a:pathLst>
                  <a:path w="1947313" h="1923835">
                    <a:moveTo>
                      <a:pt x="1610596" y="0"/>
                    </a:moveTo>
                    <a:lnTo>
                      <a:pt x="1947314" y="0"/>
                    </a:lnTo>
                    <a:lnTo>
                      <a:pt x="1937664" y="191112"/>
                    </a:lnTo>
                    <a:cubicBezTo>
                      <a:pt x="1838825" y="1164356"/>
                      <a:pt x="1016889" y="1923835"/>
                      <a:pt x="17567" y="1923835"/>
                    </a:cubicBezTo>
                    <a:lnTo>
                      <a:pt x="0" y="1922948"/>
                    </a:lnTo>
                    <a:lnTo>
                      <a:pt x="0" y="1586230"/>
                    </a:lnTo>
                    <a:lnTo>
                      <a:pt x="17567" y="1587117"/>
                    </a:lnTo>
                    <a:cubicBezTo>
                      <a:pt x="842548" y="1587117"/>
                      <a:pt x="1521089" y="960137"/>
                      <a:pt x="1602684" y="156684"/>
                    </a:cubicBezTo>
                    <a:close/>
                  </a:path>
                </a:pathLst>
              </a:custGeom>
              <a:gradFill>
                <a:gsLst>
                  <a:gs pos="38999">
                    <a:srgbClr val="1A5478">
                      <a:alpha val="100000"/>
                    </a:srgbClr>
                  </a:gs>
                  <a:gs pos="100000">
                    <a:srgbClr val="1A5478">
                      <a:alpha val="14901"/>
                    </a:srgbClr>
                  </a:gs>
                </a:gsLst>
                <a:lin ang="10800000"/>
              </a:gradFill>
              <a:ln>
                <a:headEnd type="none"/>
                <a:tailEnd type="none"/>
              </a:ln>
            </p:spPr>
          </p:sp>
        </p:grpSp>
        <p:grpSp>
          <p:nvGrpSpPr>
            <p:cNvPr name="Group 6" id="6"/>
            <p:cNvGrpSpPr/>
            <p:nvPr/>
          </p:nvGrpSpPr>
          <p:grpSpPr>
            <a:xfrm flipH="false" flipV="false" rot="0">
              <a:off x="10858500" y="5511800"/>
              <a:ext cx="1333500" cy="1346199"/>
              <a:chOff x="10858500" y="5511800"/>
              <a:chExt cx="1333500" cy="1346199"/>
            </a:xfrm>
          </p:grpSpPr>
          <p:sp>
            <p:nvSpPr>
              <p:cNvPr name="AutoShape 7" id="7"/>
              <p:cNvSpPr/>
              <p:nvPr/>
            </p:nvSpPr>
            <p:spPr>
              <a:xfrm flipH="false" flipV="false" rot="0">
                <a:off x="10858500" y="6266282"/>
                <a:ext cx="1333500" cy="591717"/>
              </a:xfrm>
              <a:custGeom>
                <a:rect l="l" t="t" r="r" b="b"/>
                <a:pathLst>
                  <a:path w="2395738" h="1063066">
                    <a:moveTo>
                      <a:pt x="1722638" y="0"/>
                    </a:moveTo>
                    <a:cubicBezTo>
                      <a:pt x="1922502" y="0"/>
                      <a:pt x="2115271" y="30379"/>
                      <a:pt x="2296579" y="86772"/>
                    </a:cubicBezTo>
                    <a:lnTo>
                      <a:pt x="2395738" y="123065"/>
                    </a:lnTo>
                    <a:lnTo>
                      <a:pt x="2395738" y="307866"/>
                    </a:lnTo>
                    <a:lnTo>
                      <a:pt x="2244925" y="252668"/>
                    </a:lnTo>
                    <a:cubicBezTo>
                      <a:pt x="2079935" y="201350"/>
                      <a:pt x="1904515" y="173705"/>
                      <a:pt x="1722638" y="173705"/>
                    </a:cubicBezTo>
                    <a:cubicBezTo>
                      <a:pt x="1116382" y="173705"/>
                      <a:pt x="581870" y="480872"/>
                      <a:pt x="266240" y="948066"/>
                    </a:cubicBezTo>
                    <a:lnTo>
                      <a:pt x="196375" y="1063066"/>
                    </a:lnTo>
                    <a:lnTo>
                      <a:pt x="0" y="1063066"/>
                    </a:lnTo>
                    <a:lnTo>
                      <a:pt x="25525" y="1010080"/>
                    </a:lnTo>
                    <a:cubicBezTo>
                      <a:pt x="352360" y="408431"/>
                      <a:pt x="989802" y="0"/>
                      <a:pt x="172263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A5478">
                      <a:alpha val="49019"/>
                      <a:lumMod val="40000"/>
                      <a:lumOff val="60000"/>
                    </a:srgbClr>
                  </a:gs>
                  <a:gs pos="100000">
                    <a:srgbClr val="1A5478">
                      <a:alpha val="50196"/>
                    </a:srgbClr>
                  </a:gs>
                </a:gsLst>
                <a:lin ang="10800000"/>
              </a:gradFill>
              <a:ln>
                <a:headEnd type="none"/>
                <a:tailEnd type="none"/>
              </a:ln>
            </p:spPr>
          </p:sp>
          <p:sp>
            <p:nvSpPr>
              <p:cNvPr name="AutoShape 8" id="8"/>
              <p:cNvSpPr/>
              <p:nvPr/>
            </p:nvSpPr>
            <p:spPr>
              <a:xfrm flipH="false" flipV="false" rot="0">
                <a:off x="12045916" y="5511800"/>
                <a:ext cx="146083" cy="275322"/>
              </a:xfrm>
              <a:custGeom>
                <a:rect l="l" t="t" r="r" b="b"/>
                <a:pathLst>
                  <a:path w="220278" h="415156">
                    <a:moveTo>
                      <a:pt x="207578" y="0"/>
                    </a:moveTo>
                    <a:lnTo>
                      <a:pt x="220278" y="1281"/>
                    </a:lnTo>
                    <a:lnTo>
                      <a:pt x="220278" y="413876"/>
                    </a:lnTo>
                    <a:lnTo>
                      <a:pt x="207578" y="415156"/>
                    </a:lnTo>
                    <a:cubicBezTo>
                      <a:pt x="92936" y="415156"/>
                      <a:pt x="0" y="322220"/>
                      <a:pt x="0" y="207578"/>
                    </a:cubicBezTo>
                    <a:cubicBezTo>
                      <a:pt x="0" y="92936"/>
                      <a:pt x="92936" y="0"/>
                      <a:pt x="207578" y="0"/>
                    </a:cubicBezTo>
                    <a:close/>
                  </a:path>
                </a:pathLst>
              </a:custGeom>
              <a:solidFill>
                <a:srgbClr val="1A5478">
                  <a:alpha val="30196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name="AutoShape 9" id="9"/>
              <p:cNvSpPr/>
              <p:nvPr/>
            </p:nvSpPr>
            <p:spPr>
              <a:xfrm flipH="false" flipV="false" rot="0">
                <a:off x="11377784" y="5938201"/>
                <a:ext cx="534344" cy="534344"/>
              </a:xfrm>
              <a:prstGeom prst="ellipse">
                <a:avLst/>
              </a:prstGeom>
              <a:gradFill>
                <a:gsLst>
                  <a:gs pos="999">
                    <a:srgbClr val="1A5478">
                      <a:alpha val="50196"/>
                      <a:lumMod val="40000"/>
                      <a:lumOff val="60000"/>
                    </a:srgbClr>
                  </a:gs>
                  <a:gs pos="91000">
                    <a:srgbClr val="1A5478">
                      <a:alpha val="100000"/>
                    </a:srgbClr>
                  </a:gs>
                </a:gsLst>
                <a:lin ang="13500000"/>
              </a:gradFill>
              <a:ln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1A5478">
                <a:alpha val="100000"/>
                <a:lumMod val="75000"/>
              </a:srgbClr>
            </a:gs>
            <a:gs pos="72000">
              <a:srgbClr val="1A5478">
                <a:alpha val="100000"/>
                <a:lumMod val="5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1A5478">
                <a:alpha val="100000"/>
                <a:lumMod val="75000"/>
              </a:srgbClr>
            </a:gs>
            <a:gs pos="72000">
              <a:srgbClr val="1A5478">
                <a:alpha val="100000"/>
                <a:lumMod val="5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flipH="true" flipV="false" rot="0">
            <a:off x="2846319" y="1605285"/>
            <a:ext cx="0" cy="4071937"/>
          </a:xfrm>
          <a:prstGeom prst="line">
            <a:avLst/>
          </a:prstGeom>
          <a:ln w="3175">
            <a:solidFill>
              <a:srgbClr val="FFFFFF">
                <a:alpha val="74901"/>
              </a:srgbClr>
            </a:solidFill>
            <a:prstDash val="solid"/>
            <a:headEnd type="none"/>
            <a:tailEnd type="none"/>
          </a:ln>
        </p:spPr>
      </p:cxnSp>
      <p:sp>
        <p:nvSpPr>
          <p:cNvPr name="AutoShape 3" id="3"/>
          <p:cNvSpPr/>
          <p:nvPr/>
        </p:nvSpPr>
        <p:spPr>
          <a:xfrm flipH="false" flipV="false" rot="0">
            <a:off x="1851756" y="4761555"/>
            <a:ext cx="870506" cy="915667"/>
          </a:xfrm>
          <a:custGeom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headEnd type="none"/>
            <a:tailEnd type="none"/>
          </a:ln>
        </p:spPr>
      </p:sp>
      <p:grpSp>
        <p:nvGrpSpPr>
          <p:cNvPr name="Group 4" id="4"/>
          <p:cNvGrpSpPr/>
          <p:nvPr/>
        </p:nvGrpSpPr>
        <p:grpSpPr>
          <a:xfrm flipH="false" flipV="false" rot="0">
            <a:off x="0" y="0"/>
            <a:ext cx="12191998" cy="1044514"/>
            <a:chOff x="0" y="-399728"/>
            <a:chExt cx="13815102" cy="1183569"/>
          </a:xfrm>
        </p:grpSpPr>
        <p:sp>
          <p:nvSpPr>
            <p:cNvPr name="AutoShape 5" id="5"/>
            <p:cNvSpPr/>
            <p:nvPr/>
          </p:nvSpPr>
          <p:spPr>
            <a:xfrm flipH="false" flipV="false" rot="0">
              <a:off x="0" y="-399728"/>
              <a:ext cx="13815102" cy="1183569"/>
            </a:xfrm>
            <a:custGeom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>
              <a:gsLst>
                <a:gs pos="0">
                  <a:srgbClr val="1A5478">
                    <a:alpha val="30196"/>
                  </a:srgbClr>
                </a:gs>
                <a:gs pos="100000">
                  <a:srgbClr val="1A5478">
                    <a:alpha val="10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name="AutoShape 6" id="6"/>
            <p:cNvSpPr/>
            <p:nvPr/>
          </p:nvSpPr>
          <p:spPr>
            <a:xfrm flipH="false" flipV="false" rot="0">
              <a:off x="6734755" y="205070"/>
              <a:ext cx="6811073" cy="532993"/>
            </a:xfrm>
            <a:custGeom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solidFill>
              <a:srgbClr val="1A5478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1A5478">
            <a:alpha val="100000"/>
            <a:lumMod val="20000"/>
            <a:lumOff val="8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false" flipV="false" rot="0">
            <a:off x="0" y="-8229"/>
            <a:ext cx="12192000" cy="6866230"/>
            <a:chOff x="0" y="-8229"/>
            <a:chExt cx="12192000" cy="6866230"/>
          </a:xfrm>
        </p:grpSpPr>
        <p:sp>
          <p:nvSpPr>
            <p:cNvPr name="AutoShape 3" id="3"/>
            <p:cNvSpPr/>
            <p:nvPr/>
          </p:nvSpPr>
          <p:spPr>
            <a:xfrm flipH="false" flipV="false" rot="0">
              <a:off x="0" y="0"/>
              <a:ext cx="12192000" cy="6858000"/>
            </a:xfrm>
            <a:prstGeom prst="rect">
              <a:avLst/>
            </a:prstGeom>
            <a:blipFill rotWithShape="true">
              <a:blip r:embed="rId2">
                <a:alphaModFix amt="100000"/>
                <a:alphaModFix amt="100000"/>
              </a:blip>
              <a:stretch>
                <a:fillRect l="0" r="0" t="-787" b="-787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name="AutoShape 4" id="4"/>
            <p:cNvSpPr/>
            <p:nvPr/>
          </p:nvSpPr>
          <p:spPr>
            <a:xfrm flipH="false" flipV="false" rot="0">
              <a:off x="1" y="-8229"/>
              <a:ext cx="12191999" cy="6542088"/>
            </a:xfrm>
            <a:custGeom>
              <a:rect l="l" t="t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gradFill>
              <a:gsLst>
                <a:gs pos="11999">
                  <a:srgbClr val="1A5478">
                    <a:alpha val="94901"/>
                  </a:srgbClr>
                </a:gs>
                <a:gs pos="46999">
                  <a:srgbClr val="1A5478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name="AutoShape 5" id="5"/>
            <p:cNvSpPr/>
            <p:nvPr/>
          </p:nvSpPr>
          <p:spPr>
            <a:xfrm flipH="false" flipV="false" rot="0">
              <a:off x="0" y="5018704"/>
              <a:ext cx="12192000" cy="1839297"/>
            </a:xfrm>
            <a:custGeom>
              <a:rect l="l" t="t" r="r" b="b"/>
              <a:pathLst>
                <a:path w="12192000" h="1839297">
                  <a:moveTo>
                    <a:pt x="1944410" y="196"/>
                  </a:moveTo>
                  <a:cubicBezTo>
                    <a:pt x="2781790" y="-5057"/>
                    <a:pt x="3619297" y="95552"/>
                    <a:pt x="4437291" y="302022"/>
                  </a:cubicBezTo>
                  <a:cubicBezTo>
                    <a:pt x="4437291" y="302022"/>
                    <a:pt x="4437291" y="302022"/>
                    <a:pt x="5316959" y="522907"/>
                  </a:cubicBezTo>
                  <a:cubicBezTo>
                    <a:pt x="5316959" y="522907"/>
                    <a:pt x="5316959" y="522907"/>
                    <a:pt x="7423617" y="1065374"/>
                  </a:cubicBezTo>
                  <a:cubicBezTo>
                    <a:pt x="7423617" y="1065374"/>
                    <a:pt x="7423617" y="1065374"/>
                    <a:pt x="8465585" y="1270017"/>
                  </a:cubicBezTo>
                  <a:cubicBezTo>
                    <a:pt x="9601687" y="1494150"/>
                    <a:pt x="10770249" y="1523385"/>
                    <a:pt x="11916089" y="1360970"/>
                  </a:cubicBezTo>
                  <a:cubicBezTo>
                    <a:pt x="11916089" y="1360970"/>
                    <a:pt x="11916089" y="1360970"/>
                    <a:pt x="12192000" y="1321990"/>
                  </a:cubicBezTo>
                  <a:lnTo>
                    <a:pt x="12192000" y="1839297"/>
                  </a:lnTo>
                  <a:lnTo>
                    <a:pt x="0" y="1839297"/>
                  </a:lnTo>
                  <a:lnTo>
                    <a:pt x="0" y="204573"/>
                  </a:lnTo>
                  <a:cubicBezTo>
                    <a:pt x="641898" y="72408"/>
                    <a:pt x="1293115" y="4282"/>
                    <a:pt x="1944410" y="196"/>
                  </a:cubicBezTo>
                  <a:close/>
                </a:path>
              </a:pathLst>
            </a:custGeom>
            <a:gradFill>
              <a:gsLst>
                <a:gs pos="43999">
                  <a:srgbClr val="1A5478">
                    <a:alpha val="100000"/>
                  </a:srgbClr>
                </a:gs>
                <a:gs pos="100000">
                  <a:srgbClr val="1A5478">
                    <a:alpha val="100000"/>
                    <a:lumMod val="40000"/>
                    <a:lumOff val="60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name="AutoShape 6" id="6"/>
            <p:cNvSpPr/>
            <p:nvPr/>
          </p:nvSpPr>
          <p:spPr>
            <a:xfrm flipH="false" flipV="false" rot="0">
              <a:off x="6661150" y="5519964"/>
              <a:ext cx="5530850" cy="1036638"/>
            </a:xfrm>
            <a:custGeom>
              <a:rect l="l" t="t" r="r" b="b"/>
              <a:pathLst>
                <a:path w="1704" h="319">
                  <a:moveTo>
                    <a:pt x="723" y="147"/>
                  </a:moveTo>
                  <a:cubicBezTo>
                    <a:pt x="396" y="144"/>
                    <a:pt x="396" y="144"/>
                    <a:pt x="396" y="14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235" y="178"/>
                    <a:pt x="235" y="178"/>
                    <a:pt x="235" y="178"/>
                  </a:cubicBezTo>
                  <a:cubicBezTo>
                    <a:pt x="556" y="241"/>
                    <a:pt x="556" y="241"/>
                    <a:pt x="556" y="241"/>
                  </a:cubicBezTo>
                  <a:cubicBezTo>
                    <a:pt x="906" y="310"/>
                    <a:pt x="1266" y="319"/>
                    <a:pt x="1619" y="269"/>
                  </a:cubicBezTo>
                  <a:cubicBezTo>
                    <a:pt x="1704" y="257"/>
                    <a:pt x="1704" y="257"/>
                    <a:pt x="1704" y="257"/>
                  </a:cubicBezTo>
                  <a:cubicBezTo>
                    <a:pt x="1704" y="0"/>
                    <a:pt x="1704" y="0"/>
                    <a:pt x="1704" y="0"/>
                  </a:cubicBezTo>
                  <a:cubicBezTo>
                    <a:pt x="1387" y="100"/>
                    <a:pt x="1056" y="149"/>
                    <a:pt x="723" y="147"/>
                  </a:cubicBezTo>
                  <a:close/>
                </a:path>
              </a:pathLst>
            </a:custGeom>
            <a:gradFill>
              <a:gsLst>
                <a:gs pos="28000">
                  <a:srgbClr val="1A5478">
                    <a:alpha val="65882"/>
                  </a:srgbClr>
                </a:gs>
                <a:gs pos="100000">
                  <a:srgbClr val="1A5478">
                    <a:alpha val="100000"/>
                    <a:lumMod val="40000"/>
                    <a:lumOff val="60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name="AutoShape 7" id="7"/>
            <p:cNvSpPr/>
            <p:nvPr/>
          </p:nvSpPr>
          <p:spPr>
            <a:xfrm flipH="false" flipV="false" rot="0">
              <a:off x="5424487" y="4535714"/>
              <a:ext cx="6767513" cy="1468438"/>
            </a:xfrm>
            <a:custGeom>
              <a:rect l="l" t="t" r="r" b="b"/>
              <a:pathLst>
                <a:path w="2085" h="452">
                  <a:moveTo>
                    <a:pt x="1129" y="253"/>
                  </a:moveTo>
                  <a:cubicBezTo>
                    <a:pt x="803" y="286"/>
                    <a:pt x="803" y="286"/>
                    <a:pt x="803" y="286"/>
                  </a:cubicBezTo>
                  <a:cubicBezTo>
                    <a:pt x="135" y="316"/>
                    <a:pt x="135" y="316"/>
                    <a:pt x="135" y="316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381" y="421"/>
                    <a:pt x="381" y="421"/>
                    <a:pt x="381" y="421"/>
                  </a:cubicBezTo>
                  <a:cubicBezTo>
                    <a:pt x="777" y="447"/>
                    <a:pt x="777" y="447"/>
                    <a:pt x="777" y="447"/>
                  </a:cubicBezTo>
                  <a:cubicBezTo>
                    <a:pt x="1104" y="450"/>
                    <a:pt x="1104" y="450"/>
                    <a:pt x="1104" y="450"/>
                  </a:cubicBezTo>
                  <a:cubicBezTo>
                    <a:pt x="1437" y="452"/>
                    <a:pt x="1768" y="403"/>
                    <a:pt x="2085" y="303"/>
                  </a:cubicBezTo>
                  <a:cubicBezTo>
                    <a:pt x="2085" y="0"/>
                    <a:pt x="2085" y="0"/>
                    <a:pt x="2085" y="0"/>
                  </a:cubicBezTo>
                  <a:cubicBezTo>
                    <a:pt x="1782" y="133"/>
                    <a:pt x="1459" y="219"/>
                    <a:pt x="1129" y="253"/>
                  </a:cubicBezTo>
                  <a:close/>
                </a:path>
              </a:pathLst>
            </a:custGeom>
            <a:gradFill>
              <a:gsLst>
                <a:gs pos="28000">
                  <a:srgbClr val="1A5478">
                    <a:alpha val="100000"/>
                  </a:srgbClr>
                </a:gs>
                <a:gs pos="100000">
                  <a:srgbClr val="1A5478">
                    <a:alpha val="7058"/>
                    <a:lumMod val="40000"/>
                    <a:lumOff val="6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name="AutoShape 8" id="8"/>
            <p:cNvSpPr/>
            <p:nvPr/>
          </p:nvSpPr>
          <p:spPr>
            <a:xfrm flipH="false" flipV="false" rot="0">
              <a:off x="9892976" y="2"/>
              <a:ext cx="2299024" cy="2412075"/>
            </a:xfrm>
            <a:custGeom>
              <a:rect l="l" t="t" r="r" b="b"/>
              <a:pathLst>
                <a:path w="2299024" h="2412075">
                  <a:moveTo>
                    <a:pt x="0" y="0"/>
                  </a:moveTo>
                  <a:lnTo>
                    <a:pt x="2299024" y="0"/>
                  </a:lnTo>
                  <a:lnTo>
                    <a:pt x="2299024" y="2412075"/>
                  </a:lnTo>
                  <a:lnTo>
                    <a:pt x="2289714" y="2399458"/>
                  </a:lnTo>
                  <a:cubicBezTo>
                    <a:pt x="1726559" y="1636261"/>
                    <a:pt x="1726559" y="1636261"/>
                    <a:pt x="1726559" y="1636261"/>
                  </a:cubicBezTo>
                  <a:cubicBezTo>
                    <a:pt x="1372638" y="1165381"/>
                    <a:pt x="1372638" y="1165381"/>
                    <a:pt x="1372638" y="1165381"/>
                  </a:cubicBezTo>
                  <a:cubicBezTo>
                    <a:pt x="1007577" y="677844"/>
                    <a:pt x="562298" y="294562"/>
                    <a:pt x="51131" y="24163"/>
                  </a:cubicBezTo>
                  <a:close/>
                </a:path>
              </a:pathLst>
            </a:custGeom>
            <a:gradFill>
              <a:gsLst>
                <a:gs pos="0">
                  <a:srgbClr val="1A5478">
                    <a:alpha val="0"/>
                    <a:lumMod val="60000"/>
                    <a:lumOff val="40000"/>
                  </a:srgbClr>
                </a:gs>
                <a:gs pos="100000">
                  <a:srgbClr val="1A5478">
                    <a:alpha val="100000"/>
                    <a:lumMod val="60000"/>
                    <a:lumOff val="4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0.xml" Type="http://schemas.openxmlformats.org/officeDocument/2006/relationships/slideLayout"/><Relationship Id="rId2" Target="../notesSlides/notesSlide16.xml" Type="http://schemas.openxmlformats.org/officeDocument/2006/relationships/notesSlide"/><Relationship Id="rIdWatermark" Target="../media/watermark_aigc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660400" y="1089025"/>
            <a:ext cx="6363398" cy="23399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5400">
                <a:ln w="19050"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给AI戴上“紧箍咒”——机器人控制系统的AI安全驾驶指南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660400" y="3575051"/>
            <a:ext cx="6363398" cy="1299191"/>
          </a:xfrm>
          <a:prstGeom prst="roundRect">
            <a:avLst>
              <a:gd fmla="val 0" name="adj"/>
            </a:avLst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保障工业擦窗机器人AI代码开发的稳定与安全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660400" y="5580102"/>
            <a:ext cx="4764088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000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b="false" i="false" lang="en-US" sz="12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报告人名称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660400" y="5857101"/>
            <a:ext cx="4764088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none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>
                <a:latin typeface="微软雅黑"/>
                <a:ea typeface="微软雅黑"/>
                <a:cs typeface="微软雅黑"/>
              </a:rPr>
              <a:t>20xx.xx.xx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2961a67-f3c3-411b-ac95-55000a4558ea"/>
          <p:cNvGrpSpPr/>
          <p:nvPr/>
        </p:nvGrpSpPr>
        <p:grpSpPr>
          <a:xfrm flipH="false" flipV="false" rot="0">
            <a:off x="674753" y="1071701"/>
            <a:ext cx="10829794" cy="5120999"/>
            <a:chOff x="674753" y="1071701"/>
            <a:chExt cx="10829794" cy="5120999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2596797" y="1703324"/>
              <a:ext cx="2368003" cy="472553"/>
            </a:xfrm>
            <a:custGeom>
              <a:rect b="b" l="l" r="r" t="t"/>
              <a:pathLst>
                <a:path h="111823" w="560355">
                  <a:moveTo>
                    <a:pt x="0" y="111824"/>
                  </a:moveTo>
                  <a:lnTo>
                    <a:pt x="446056" y="111824"/>
                  </a:lnTo>
                  <a:lnTo>
                    <a:pt x="560356" y="0"/>
                  </a:lnTo>
                </a:path>
              </a:pathLst>
            </a:custGeom>
            <a:ln w="9525">
              <a:gradFill>
                <a:gsLst>
                  <a:gs pos="38999">
                    <a:srgbClr val="1A5478">
                      <a:alpha val="0"/>
                    </a:srgbClr>
                  </a:gs>
                  <a:gs pos="100000">
                    <a:srgbClr val="0F69A2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oval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3174410" y="2979826"/>
              <a:ext cx="3183494" cy="194412"/>
            </a:xfrm>
            <a:custGeom>
              <a:rect b="b" l="l" r="r" t="t"/>
              <a:pathLst>
                <a:path h="46005" w="872204">
                  <a:moveTo>
                    <a:pt x="0" y="46006"/>
                  </a:moveTo>
                  <a:lnTo>
                    <a:pt x="485775" y="46006"/>
                  </a:lnTo>
                  <a:lnTo>
                    <a:pt x="531781" y="0"/>
                  </a:lnTo>
                  <a:lnTo>
                    <a:pt x="872204" y="0"/>
                  </a:lnTo>
                </a:path>
              </a:pathLst>
            </a:custGeom>
            <a:ln w="9525">
              <a:gradFill>
                <a:gsLst>
                  <a:gs pos="38999">
                    <a:srgbClr val="1A5478">
                      <a:alpha val="0"/>
                    </a:srgbClr>
                  </a:gs>
                  <a:gs pos="100000">
                    <a:srgbClr val="0F69A2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oval"/>
            </a:ln>
          </p:spPr>
        </p:sp>
        <p:sp>
          <p:nvSpPr>
            <p:cNvPr id="5" name="AutoShape 5"/>
            <p:cNvSpPr/>
            <p:nvPr/>
          </p:nvSpPr>
          <p:spPr>
            <a:xfrm flipH="false" flipV="true" rot="0">
              <a:off x="3174410" y="4169433"/>
              <a:ext cx="3183494" cy="194412"/>
            </a:xfrm>
            <a:custGeom>
              <a:rect b="b" l="l" r="r" t="t"/>
              <a:pathLst>
                <a:path h="46005" w="872204">
                  <a:moveTo>
                    <a:pt x="0" y="46006"/>
                  </a:moveTo>
                  <a:lnTo>
                    <a:pt x="485775" y="46006"/>
                  </a:lnTo>
                  <a:lnTo>
                    <a:pt x="531781" y="0"/>
                  </a:lnTo>
                  <a:lnTo>
                    <a:pt x="872204" y="0"/>
                  </a:lnTo>
                </a:path>
              </a:pathLst>
            </a:custGeom>
            <a:ln w="9525">
              <a:gradFill>
                <a:gsLst>
                  <a:gs pos="38999">
                    <a:srgbClr val="1A5478">
                      <a:alpha val="0"/>
                    </a:srgbClr>
                  </a:gs>
                  <a:gs pos="100000">
                    <a:srgbClr val="0F69A2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oval"/>
            </a:ln>
          </p:spPr>
        </p:sp>
        <p:sp>
          <p:nvSpPr>
            <p:cNvPr id="6" name="AutoShape 6"/>
            <p:cNvSpPr/>
            <p:nvPr/>
          </p:nvSpPr>
          <p:spPr>
            <a:xfrm flipH="false" flipV="true" rot="0">
              <a:off x="2428949" y="5107644"/>
              <a:ext cx="2549138" cy="464904"/>
            </a:xfrm>
            <a:custGeom>
              <a:rect b="b" l="l" r="r" t="t"/>
              <a:pathLst>
                <a:path h="110013" w="603218">
                  <a:moveTo>
                    <a:pt x="0" y="110014"/>
                  </a:moveTo>
                  <a:lnTo>
                    <a:pt x="493205" y="110014"/>
                  </a:lnTo>
                  <a:lnTo>
                    <a:pt x="603218" y="0"/>
                  </a:lnTo>
                </a:path>
              </a:pathLst>
            </a:custGeom>
            <a:ln w="9525">
              <a:gradFill>
                <a:gsLst>
                  <a:gs pos="38999">
                    <a:srgbClr val="1A5478">
                      <a:alpha val="0"/>
                    </a:srgbClr>
                  </a:gs>
                  <a:gs pos="100000">
                    <a:srgbClr val="0F69A2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oval"/>
            </a:ln>
          </p:spPr>
        </p:sp>
        <p:sp>
          <p:nvSpPr>
            <p:cNvPr id="7" name="AutoShape 7"/>
            <p:cNvSpPr/>
            <p:nvPr/>
          </p:nvSpPr>
          <p:spPr>
            <a:xfrm flipH="false" flipV="false" rot="0">
              <a:off x="5095087" y="3077032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1A5478">
                      <a:alpha val="0"/>
                    </a:srgbClr>
                  </a:gs>
                  <a:gs pos="100000">
                    <a:srgbClr val="0F69A2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H="false" flipV="false" rot="0">
              <a:off x="4568037" y="4461332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1A5478">
                      <a:alpha val="0"/>
                    </a:srgbClr>
                  </a:gs>
                  <a:gs pos="100000">
                    <a:srgbClr val="0F69A2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flipH="false" flipV="false" rot="0">
              <a:off x="5228437" y="2846050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1A5478">
                      <a:alpha val="0"/>
                    </a:srgbClr>
                  </a:gs>
                  <a:gs pos="100000">
                    <a:srgbClr val="0F69A2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 flipH="false" flipV="false" rot="0">
              <a:off x="674753" y="1883870"/>
              <a:ext cx="3496660" cy="3496660"/>
            </a:xfrm>
            <a:prstGeom prst="ellipse">
              <a:avLst/>
            </a:prstGeom>
            <a:solidFill>
              <a:srgbClr val="FFFFFF">
                <a:alpha val="7058"/>
              </a:srgbClr>
            </a:solidFill>
            <a:ln w="34925">
              <a:gradFill>
                <a:gsLst>
                  <a:gs pos="11999">
                    <a:srgbClr val="FFFFFF">
                      <a:alpha val="100000"/>
                      <a:lumMod val="0"/>
                      <a:lumOff val="100000"/>
                    </a:srgbClr>
                  </a:gs>
                  <a:gs pos="23999">
                    <a:srgbClr val="CBC5F5">
                      <a:alpha val="0"/>
                    </a:srgbClr>
                  </a:gs>
                  <a:gs pos="77999">
                    <a:srgbClr val="DBD7F8">
                      <a:alpha val="10196"/>
                    </a:srgbClr>
                  </a:gs>
                  <a:gs pos="87999">
                    <a:srgbClr val="FFFFFF">
                      <a:alpha val="100000"/>
                      <a:lumMod val="60000"/>
                      <a:lumOff val="40000"/>
                    </a:srgbClr>
                  </a:gs>
                </a:gsLst>
                <a:lin ang="2700000"/>
              </a:gradFill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 flipH="false" flipV="false" rot="0">
              <a:off x="894394" y="2103511"/>
              <a:ext cx="3057380" cy="3057380"/>
            </a:xfrm>
            <a:prstGeom prst="ellipse">
              <a:avLst/>
            </a:prstGeom>
            <a:gradFill>
              <a:gsLst>
                <a:gs pos="0">
                  <a:srgbClr val="0F69A2">
                    <a:alpha val="100000"/>
                  </a:srgbClr>
                </a:gs>
                <a:gs pos="80000">
                  <a:srgbClr val="1A5478">
                    <a:alpha val="100000"/>
                  </a:srgbClr>
                </a:gs>
              </a:gsLst>
              <a:lin ang="2700000"/>
            </a:gra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 flipH="false" flipV="false" rot="0">
              <a:off x="3247830" y="5210385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1A5478">
                      <a:alpha val="0"/>
                    </a:srgbClr>
                  </a:gs>
                  <a:gs pos="100000">
                    <a:srgbClr val="0F69A2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 flipH="false" flipV="false" rot="0">
              <a:off x="3700222" y="2290077"/>
              <a:ext cx="1065935" cy="0"/>
            </a:xfrm>
            <a:prstGeom prst="line">
              <a:avLst/>
            </a:prstGeom>
            <a:ln w="9525">
              <a:gradFill>
                <a:gsLst>
                  <a:gs pos="12999">
                    <a:srgbClr val="1A5478">
                      <a:alpha val="0"/>
                    </a:srgbClr>
                  </a:gs>
                  <a:gs pos="100000">
                    <a:srgbClr val="0F69A2">
                      <a:alpha val="36862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grpSp>
          <p:nvGrpSpPr>
            <p:cNvPr id="14" name="Group 14"/>
            <p:cNvGrpSpPr/>
            <p:nvPr/>
          </p:nvGrpSpPr>
          <p:grpSpPr>
            <a:xfrm flipH="false" flipV="false" rot="0">
              <a:off x="5164102" y="1071701"/>
              <a:ext cx="6340445" cy="1130270"/>
              <a:chOff x="5164102" y="1071701"/>
              <a:chExt cx="6340445" cy="1130270"/>
            </a:xfrm>
          </p:grpSpPr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6455785" y="1276350"/>
                <a:ext cx="5048762" cy="740092"/>
              </a:xfrm>
              <a:prstGeom prst="roundRect">
                <a:avLst>
                  <a:gd fmla="val 50000" name="adj"/>
                </a:avLst>
              </a:prstGeom>
              <a:ln w="3175">
                <a:gradFill>
                  <a:gsLst>
                    <a:gs pos="0">
                      <a:srgbClr val="1A5478">
                        <a:alpha val="100000"/>
                      </a:srgbClr>
                    </a:gs>
                    <a:gs pos="100000">
                      <a:srgbClr val="0F69A2">
                        <a:alpha val="100000"/>
                      </a:srgbClr>
                    </a:gs>
                  </a:gsLst>
                  <a:lin ang="0"/>
                </a:gradFill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AI代码开发：痛点与挑战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5228437" y="1136037"/>
                <a:ext cx="1001600" cy="1001598"/>
              </a:xfrm>
              <a:prstGeom prst="ellipse">
                <a:avLst/>
              </a:prstGeom>
              <a:gradFill>
                <a:gsLst>
                  <a:gs pos="0">
                    <a:srgbClr val="0F69A2">
                      <a:alpha val="100000"/>
                    </a:srgbClr>
                  </a:gs>
                  <a:gs pos="80000">
                    <a:srgbClr val="1A5478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2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/>
            </p:nvSpPr>
            <p:spPr>
              <a:xfrm flipH="false" flipV="false" rot="0">
                <a:off x="5164102" y="1071701"/>
                <a:ext cx="1130270" cy="1130270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0F69A2">
                        <a:alpha val="100000"/>
                      </a:srgbClr>
                    </a:gs>
                    <a:gs pos="100000">
                      <a:srgbClr val="1A5478">
                        <a:alpha val="100000"/>
                        <a:lumMod val="75000"/>
                      </a:srgbClr>
                    </a:gs>
                  </a:gsLst>
                  <a:lin ang="2700000"/>
                </a:gradFill>
                <a:prstDash val="dash"/>
                <a:headEnd type="none"/>
                <a:tailEnd type="none"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 flipH="false" flipV="false" rot="0">
              <a:off x="6580847" y="2414691"/>
              <a:ext cx="4923700" cy="1130270"/>
              <a:chOff x="6580847" y="2414691"/>
              <a:chExt cx="4923700" cy="1130270"/>
            </a:xfrm>
          </p:grpSpPr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7837378" y="2619340"/>
                <a:ext cx="3667169" cy="740092"/>
              </a:xfrm>
              <a:prstGeom prst="roundRect">
                <a:avLst>
                  <a:gd fmla="val 50000" name="adj"/>
                </a:avLst>
              </a:prstGeom>
              <a:ln w="3175">
                <a:gradFill>
                  <a:gsLst>
                    <a:gs pos="0">
                      <a:srgbClr val="1A5478">
                        <a:alpha val="100000"/>
                      </a:srgbClr>
                    </a:gs>
                    <a:gs pos="100000">
                      <a:srgbClr val="0F69A2">
                        <a:alpha val="100000"/>
                      </a:srgbClr>
                    </a:gs>
                  </a:gsLst>
                  <a:lin ang="0"/>
                </a:gradFill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AI代码管控：核心方案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6645182" y="2479027"/>
                <a:ext cx="1001600" cy="1001598"/>
              </a:xfrm>
              <a:prstGeom prst="ellipse">
                <a:avLst/>
              </a:prstGeom>
              <a:gradFill>
                <a:gsLst>
                  <a:gs pos="0">
                    <a:srgbClr val="0F69A2">
                      <a:alpha val="100000"/>
                    </a:srgbClr>
                  </a:gs>
                  <a:gs pos="80000">
                    <a:srgbClr val="1A5478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2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21" name="AutoShape 21"/>
              <p:cNvSpPr/>
              <p:nvPr/>
            </p:nvSpPr>
            <p:spPr>
              <a:xfrm flipH="false" flipV="false" rot="0">
                <a:off x="6580847" y="2414691"/>
                <a:ext cx="1130270" cy="1130270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0F69A2">
                        <a:alpha val="100000"/>
                      </a:srgbClr>
                    </a:gs>
                    <a:gs pos="100000">
                      <a:srgbClr val="1A5478">
                        <a:alpha val="100000"/>
                        <a:lumMod val="75000"/>
                      </a:srgbClr>
                    </a:gs>
                  </a:gsLst>
                  <a:lin ang="2700000"/>
                </a:gradFill>
                <a:prstDash val="dash"/>
                <a:headEnd type="none"/>
                <a:tailEnd type="none"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 flipH="false" flipV="false" rot="0">
              <a:off x="6580847" y="3740828"/>
              <a:ext cx="4923700" cy="1130270"/>
              <a:chOff x="6580847" y="3740828"/>
              <a:chExt cx="4923700" cy="1130270"/>
            </a:xfrm>
          </p:grpSpPr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7837378" y="3943209"/>
                <a:ext cx="3667169" cy="740092"/>
              </a:xfrm>
              <a:prstGeom prst="roundRect">
                <a:avLst>
                  <a:gd fmla="val 50000" name="adj"/>
                </a:avLst>
              </a:prstGeom>
              <a:ln w="3175">
                <a:gradFill>
                  <a:gsLst>
                    <a:gs pos="0">
                      <a:srgbClr val="1A5478">
                        <a:alpha val="100000"/>
                      </a:srgbClr>
                    </a:gs>
                    <a:gs pos="100000">
                      <a:srgbClr val="0F69A2">
                        <a:alpha val="100000"/>
                      </a:srgbClr>
                    </a:gs>
                  </a:gsLst>
                  <a:lin ang="0"/>
                </a:gradFill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实施效果与价值</a:t>
                </a:r>
                <a:endParaRPr lang="en-US" sz="1100"/>
              </a:p>
            </p:txBody>
          </p:sp>
          <p:sp>
            <p:nvSpPr>
              <p:cNvPr id="24" name="TextBox 24"/>
              <p:cNvSpPr txBox="true"/>
              <p:nvPr/>
            </p:nvSpPr>
            <p:spPr>
              <a:xfrm flipH="false" flipV="false" rot="0">
                <a:off x="6645182" y="3802896"/>
                <a:ext cx="1001600" cy="1001598"/>
              </a:xfrm>
              <a:prstGeom prst="ellipse">
                <a:avLst/>
              </a:prstGeom>
              <a:gradFill>
                <a:gsLst>
                  <a:gs pos="0">
                    <a:srgbClr val="0F69A2">
                      <a:alpha val="100000"/>
                    </a:srgbClr>
                  </a:gs>
                  <a:gs pos="80000">
                    <a:srgbClr val="1A5478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2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25" name="AutoShape 25"/>
              <p:cNvSpPr/>
              <p:nvPr/>
            </p:nvSpPr>
            <p:spPr>
              <a:xfrm flipH="false" flipV="false" rot="0">
                <a:off x="6580847" y="3740828"/>
                <a:ext cx="1130270" cy="1130270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0F69A2">
                        <a:alpha val="100000"/>
                      </a:srgbClr>
                    </a:gs>
                    <a:gs pos="100000">
                      <a:srgbClr val="1A5478">
                        <a:alpha val="100000"/>
                        <a:lumMod val="75000"/>
                      </a:srgbClr>
                    </a:gs>
                  </a:gsLst>
                  <a:lin ang="2700000"/>
                </a:gradFill>
                <a:prstDash val="dash"/>
                <a:headEnd type="none"/>
                <a:tailEnd type="none"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 flipH="false" flipV="false" rot="0">
              <a:off x="5164102" y="5062430"/>
              <a:ext cx="6340445" cy="1130270"/>
              <a:chOff x="5164102" y="5062430"/>
              <a:chExt cx="6340445" cy="1130270"/>
            </a:xfrm>
          </p:grpSpPr>
          <p:sp>
            <p:nvSpPr>
              <p:cNvPr id="27" name="TextBox 27"/>
              <p:cNvSpPr txBox="true"/>
              <p:nvPr/>
            </p:nvSpPr>
            <p:spPr>
              <a:xfrm flipH="false" flipV="false" rot="0">
                <a:off x="6455785" y="5267079"/>
                <a:ext cx="5048762" cy="740092"/>
              </a:xfrm>
              <a:prstGeom prst="roundRect">
                <a:avLst>
                  <a:gd fmla="val 50000" name="adj"/>
                </a:avLst>
              </a:prstGeom>
              <a:ln w="3175">
                <a:gradFill>
                  <a:gsLst>
                    <a:gs pos="0">
                      <a:srgbClr val="1A5478">
                        <a:alpha val="100000"/>
                      </a:srgbClr>
                    </a:gs>
                    <a:gs pos="100000">
                      <a:srgbClr val="0F69A2">
                        <a:alpha val="100000"/>
                      </a:srgbClr>
                    </a:gs>
                  </a:gsLst>
                  <a:lin ang="0"/>
                </a:gradFill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展望与问答</a:t>
                </a:r>
                <a:endParaRPr lang="en-US" sz="1100"/>
              </a:p>
            </p:txBody>
          </p:sp>
          <p:sp>
            <p:nvSpPr>
              <p:cNvPr id="28" name="TextBox 28"/>
              <p:cNvSpPr txBox="true"/>
              <p:nvPr/>
            </p:nvSpPr>
            <p:spPr>
              <a:xfrm flipH="false" flipV="false" rot="0">
                <a:off x="5228437" y="5126766"/>
                <a:ext cx="1001600" cy="1001598"/>
              </a:xfrm>
              <a:prstGeom prst="ellipse">
                <a:avLst/>
              </a:prstGeom>
              <a:gradFill>
                <a:gsLst>
                  <a:gs pos="0">
                    <a:srgbClr val="0F69A2">
                      <a:alpha val="100000"/>
                    </a:srgbClr>
                  </a:gs>
                  <a:gs pos="80000">
                    <a:srgbClr val="1A5478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2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  <p:sp>
            <p:nvSpPr>
              <p:cNvPr id="29" name="AutoShape 29"/>
              <p:cNvSpPr/>
              <p:nvPr/>
            </p:nvSpPr>
            <p:spPr>
              <a:xfrm flipH="false" flipV="false" rot="0">
                <a:off x="5164102" y="5062430"/>
                <a:ext cx="1130270" cy="1130270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0F69A2">
                        <a:alpha val="100000"/>
                      </a:srgbClr>
                    </a:gs>
                    <a:gs pos="100000">
                      <a:srgbClr val="1A5478">
                        <a:alpha val="100000"/>
                        <a:lumMod val="75000"/>
                      </a:srgbClr>
                    </a:gs>
                  </a:gsLst>
                  <a:lin ang="2700000"/>
                </a:gradFill>
                <a:prstDash val="dash"/>
                <a:headEnd type="none"/>
                <a:tailEnd type="none"/>
              </a:ln>
            </p:spPr>
          </p:sp>
        </p:grpSp>
      </p:grpSp>
      <p:sp>
        <p:nvSpPr>
          <p:cNvPr id="30" name="TextBox 30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6094234" y="1840730"/>
            <a:ext cx="5424666" cy="146025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80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AI代码开发：痛点与挑战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6094234" y="3312842"/>
            <a:ext cx="5424666" cy="75909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剖析AI代码开发中亟待解决的问题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0e60176-7c1b-4149-8a44-57be68f1c0b4"/>
          <p:cNvGrpSpPr/>
          <p:nvPr/>
        </p:nvGrpSpPr>
        <p:grpSpPr>
          <a:xfrm flipH="false" flipV="false" rot="0">
            <a:off x="660399" y="1130300"/>
            <a:ext cx="10858500" cy="5003801"/>
            <a:chOff x="660399" y="1130300"/>
            <a:chExt cx="10858500" cy="5003801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1231177" y="2197102"/>
              <a:ext cx="7837423" cy="0"/>
            </a:xfrm>
            <a:prstGeom prst="line">
              <a:avLst/>
            </a:prstGeom>
            <a:ln w="6350">
              <a:solidFill>
                <a:srgbClr val="1A547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660399" y="2616205"/>
              <a:ext cx="10858500" cy="3517896"/>
            </a:xfrm>
            <a:prstGeom prst="roundRect">
              <a:avLst>
                <a:gd fmla="val 0" name="adj"/>
              </a:avLst>
            </a:prstGeom>
            <a:ln w="12700">
              <a:solidFill>
                <a:srgbClr val="1A5478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5" name="TextBox 5"/>
            <p:cNvSpPr txBox="true"/>
            <p:nvPr/>
          </p:nvSpPr>
          <p:spPr>
            <a:xfrm flipH="true" flipV="false" rot="0">
              <a:off x="660399" y="1130300"/>
              <a:ext cx="10858500" cy="6476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不同角色对AI代码开发的担忧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flipH="false" flipV="false" rot="0">
              <a:off x="747173" y="2003252"/>
              <a:ext cx="2466520" cy="4056788"/>
              <a:chOff x="747173" y="2003252"/>
              <a:chExt cx="2466520" cy="4056788"/>
            </a:xfrm>
          </p:grpSpPr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843477" y="2003252"/>
                <a:ext cx="387700" cy="387700"/>
              </a:xfrm>
              <a:prstGeom prst="rect">
                <a:avLst/>
              </a:prstGeom>
              <a:solidFill>
                <a:srgbClr val="1A5478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34275" lIns="68575" rIns="68575" rtlCol="false" tIns="34275" vert="horz" wrap="none"/>
              <a:lstStyle/>
              <a:p>
                <a:pPr algn="ctr">
                  <a:defRPr/>
                </a:pPr>
                <a:r>
                  <a:rPr b="true" i="false" lang="en-US" sz="1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747173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行政关心成本和效率</a:t>
                </a:r>
                <a:endParaRPr lang="en-US" sz="1100"/>
              </a:p>
            </p:txBody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748698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老项目改造成本高，无统一规矩维护难，担心AI写代码增加成本。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flipH="false" flipV="false" rot="0">
              <a:off x="3488881" y="2003252"/>
              <a:ext cx="2466520" cy="4056788"/>
              <a:chOff x="3488881" y="2003252"/>
              <a:chExt cx="2466520" cy="4056788"/>
            </a:xfrm>
          </p:grpSpPr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3585185" y="2003252"/>
                <a:ext cx="387700" cy="387700"/>
              </a:xfrm>
              <a:prstGeom prst="rect">
                <a:avLst/>
              </a:prstGeom>
              <a:solidFill>
                <a:srgbClr val="1A5478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34275" lIns="68575" rIns="68575" rtlCol="false" tIns="34275" vert="horz" wrap="none"/>
              <a:lstStyle/>
              <a:p>
                <a:pPr algn="ctr">
                  <a:defRPr/>
                </a:pPr>
                <a:r>
                  <a:rPr b="true" i="false" lang="en-US" sz="1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3488881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总工关心架构和稳定性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3490406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担心AI不懂业务，随意修改代码导致架构破坏，影响稳定性。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6230589" y="2003252"/>
              <a:ext cx="2466520" cy="4056788"/>
              <a:chOff x="6230589" y="2003252"/>
              <a:chExt cx="2466520" cy="4056788"/>
            </a:xfrm>
          </p:grpSpPr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6326893" y="2003252"/>
                <a:ext cx="387700" cy="387700"/>
              </a:xfrm>
              <a:prstGeom prst="rect">
                <a:avLst/>
              </a:prstGeom>
              <a:solidFill>
                <a:srgbClr val="1A5478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34275" lIns="68575" rIns="68575" rtlCol="false" tIns="34275" vert="horz" wrap="none"/>
              <a:lstStyle/>
              <a:p>
                <a:pPr algn="ctr">
                  <a:defRPr/>
                </a:pPr>
                <a:r>
                  <a:rPr b="true" i="false" lang="en-US" sz="1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6230589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硬件关心性能指标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6232114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AI可能增加复杂计算，使TCP和视频延迟超红线，导致机器人失控。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flipH="false" flipV="false" rot="0">
              <a:off x="8972296" y="2003252"/>
              <a:ext cx="2466520" cy="4056788"/>
              <a:chOff x="8972296" y="2003252"/>
              <a:chExt cx="2466520" cy="4056788"/>
            </a:xfrm>
          </p:grpSpPr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9068600" y="2003252"/>
                <a:ext cx="387700" cy="387700"/>
              </a:xfrm>
              <a:prstGeom prst="rect">
                <a:avLst/>
              </a:prstGeom>
              <a:solidFill>
                <a:srgbClr val="1A5478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34275" lIns="68575" rIns="68575" rtlCol="false" tIns="34275" vert="horz" wrap="none"/>
              <a:lstStyle/>
              <a:p>
                <a:pPr algn="ctr">
                  <a:defRPr/>
                </a:pPr>
                <a:r>
                  <a:rPr b="true" i="false" lang="en-US" sz="1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8972296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测试关心回归成本</a:t>
                </a:r>
                <a:endParaRPr lang="en-US" sz="1100"/>
              </a:p>
            </p:txBody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8973821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AI改动可能引发底层逻辑混乱，导致回归测试工作量翻倍，增加负担。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AI代码开发顾虑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356ab36-ad21-4b52-acc5-2f4f62c41ea5"/>
          <p:cNvGrpSpPr/>
          <p:nvPr/>
        </p:nvGrpSpPr>
        <p:grpSpPr>
          <a:xfrm flipH="false" flipV="false" rot="0">
            <a:off x="660399" y="1130302"/>
            <a:ext cx="10858500" cy="5003799"/>
            <a:chOff x="660399" y="1130302"/>
            <a:chExt cx="10858500" cy="5003799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4285985" y="1879600"/>
              <a:ext cx="3608732" cy="4254500"/>
            </a:xfrm>
            <a:prstGeom prst="roundRect">
              <a:avLst>
                <a:gd fmla="val 0" name="adj"/>
              </a:avLst>
            </a:prstGeom>
            <a:ln w="12700">
              <a:solidFill>
                <a:srgbClr val="1A5478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4" name="TextBox 4"/>
            <p:cNvSpPr txBox="true"/>
            <p:nvPr/>
          </p:nvSpPr>
          <p:spPr>
            <a:xfrm flipH="true" flipV="false" rot="0">
              <a:off x="660399" y="1130302"/>
              <a:ext cx="10858500" cy="550188"/>
            </a:xfrm>
            <a:prstGeom prst="rect">
              <a:avLst/>
            </a:prstGeom>
            <a:solidFill>
              <a:srgbClr val="1A5478">
                <a:alpha val="94901"/>
                <a:lumMod val="75000"/>
              </a:srgbClr>
            </a:solidFill>
            <a:ln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AI无管控带来的潜在风险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flipH="false" flipV="false" rot="0">
              <a:off x="795678" y="2078276"/>
              <a:ext cx="3414372" cy="4055825"/>
              <a:chOff x="795678" y="2078276"/>
              <a:chExt cx="3414372" cy="4055825"/>
            </a:xfrm>
          </p:grpSpPr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903596" y="2078276"/>
                <a:ext cx="381600" cy="382702"/>
              </a:xfrm>
              <a:prstGeom prst="rect">
                <a:avLst/>
              </a:prstGeom>
              <a:ln w="12700">
                <a:solidFill>
                  <a:srgbClr val="1A5478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795678" y="2550512"/>
                <a:ext cx="341437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国外大厂实验对比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795678" y="3693161"/>
                <a:ext cx="3414372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国外大厂实验表明，无管控AI代码合格率低，仅6%，效果不佳。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4385609" y="2078276"/>
              <a:ext cx="3414372" cy="4055825"/>
              <a:chOff x="4385609" y="2078276"/>
              <a:chExt cx="3414372" cy="4055825"/>
            </a:xfrm>
          </p:grpSpPr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4495148" y="2078276"/>
                <a:ext cx="381600" cy="382702"/>
              </a:xfrm>
              <a:prstGeom prst="rect">
                <a:avLst/>
              </a:prstGeom>
              <a:ln w="12700">
                <a:solidFill>
                  <a:srgbClr val="1A5478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4385609" y="2550512"/>
                <a:ext cx="341437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潜在安全风险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4385609" y="3693161"/>
                <a:ext cx="3414372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AI可能写出慢代码、乱改硬件参数，导致机器人卡顿、失控等安全问题。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flipH="false" flipV="false" rot="0">
              <a:off x="7975541" y="2078276"/>
              <a:ext cx="3414372" cy="4055825"/>
              <a:chOff x="7975541" y="2078276"/>
              <a:chExt cx="3414372" cy="4055825"/>
            </a:xfrm>
          </p:grpSpPr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8085080" y="2078276"/>
                <a:ext cx="381600" cy="382702"/>
              </a:xfrm>
              <a:prstGeom prst="rect">
                <a:avLst/>
              </a:prstGeom>
              <a:ln w="12700">
                <a:solidFill>
                  <a:srgbClr val="1A5478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7975541" y="2550512"/>
                <a:ext cx="3414372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效率低下问题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7975541" y="3693161"/>
                <a:ext cx="3414372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AI写代码若不规范，会增加开发和维护成本，降低团队整体工作效率。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未加管控的后果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6094234" y="1840730"/>
            <a:ext cx="5424666" cy="146025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80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AI代码管控：核心方案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6094234" y="3312842"/>
            <a:ext cx="5424666" cy="75909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介绍管控AI代码开发的具体方法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00cb9c6-44fe-4493-bb62-c273d65afc23"/>
          <p:cNvGrpSpPr/>
          <p:nvPr/>
        </p:nvGrpSpPr>
        <p:grpSpPr>
          <a:xfrm flipH="false" flipV="false" rot="0"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0" y="0"/>
              <a:ext cx="3598742" cy="1297322"/>
            </a:xfrm>
            <a:custGeom>
              <a:rect b="b" l="l" r="r" t="t"/>
              <a:pathLst>
                <a:path h="1297322" w="3598742">
                  <a:moveTo>
                    <a:pt x="0" y="0"/>
                  </a:moveTo>
                  <a:lnTo>
                    <a:pt x="3598742" y="0"/>
                  </a:lnTo>
                  <a:lnTo>
                    <a:pt x="3193952" y="1297322"/>
                  </a:lnTo>
                  <a:lnTo>
                    <a:pt x="0" y="1297322"/>
                  </a:lnTo>
                  <a:close/>
                </a:path>
              </a:pathLst>
            </a:custGeom>
            <a:gradFill>
              <a:gsLst>
                <a:gs pos="0">
                  <a:srgbClr val="1A5478">
                    <a:alpha val="36078"/>
                    <a:lumMod val="75000"/>
                  </a:srgbClr>
                </a:gs>
                <a:gs pos="100000">
                  <a:srgbClr val="1A5478">
                    <a:alpha val="0"/>
                    <a:lumMod val="5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8084627" y="6378760"/>
              <a:ext cx="4107373" cy="479240"/>
            </a:xfrm>
            <a:custGeom>
              <a:rect b="b" l="l" r="r" t="t"/>
              <a:pathLst>
                <a:path h="479240" w="4107373">
                  <a:moveTo>
                    <a:pt x="119810" y="0"/>
                  </a:moveTo>
                  <a:lnTo>
                    <a:pt x="4107373" y="0"/>
                  </a:lnTo>
                  <a:lnTo>
                    <a:pt x="4107373" y="479240"/>
                  </a:lnTo>
                  <a:lnTo>
                    <a:pt x="0" y="479240"/>
                  </a:lnTo>
                  <a:close/>
                </a:path>
              </a:pathLst>
            </a:custGeom>
            <a:gradFill>
              <a:gsLst>
                <a:gs pos="0">
                  <a:srgbClr val="1A5478">
                    <a:alpha val="50980"/>
                    <a:lumMod val="75000"/>
                  </a:srgbClr>
                </a:gs>
                <a:gs pos="100000">
                  <a:srgbClr val="1A5478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false" flipV="false" rot="0">
              <a:off x="1611830" y="2393893"/>
              <a:ext cx="9840164" cy="989509"/>
            </a:xfrm>
            <a:prstGeom prst="parallelogram">
              <a:avLst/>
            </a:prstGeom>
            <a:ln w="12700">
              <a:gradFill>
                <a:gsLst>
                  <a:gs pos="0">
                    <a:srgbClr val="1A5478">
                      <a:alpha val="100000"/>
                    </a:srgbClr>
                  </a:gs>
                  <a:gs pos="100000">
                    <a:srgbClr val="1A5478">
                      <a:alpha val="0"/>
                    </a:srgbClr>
                  </a:gs>
                </a:gsLst>
                <a:lin ang="8100000"/>
              </a:gra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false" rot="0">
              <a:off x="1742684" y="2479294"/>
              <a:ext cx="9776216" cy="989508"/>
            </a:xfrm>
            <a:prstGeom prst="parallelogram">
              <a:avLst/>
            </a:prstGeom>
            <a:gradFill>
              <a:gsLst>
                <a:gs pos="0">
                  <a:srgbClr val="1A5478">
                    <a:alpha val="50980"/>
                    <a:lumMod val="75000"/>
                  </a:srgbClr>
                </a:gs>
                <a:gs pos="100000">
                  <a:srgbClr val="1A5478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false" flipV="false" rot="0">
              <a:off x="1134948" y="3726544"/>
              <a:ext cx="9840164" cy="989508"/>
            </a:xfrm>
            <a:prstGeom prst="parallelogram">
              <a:avLst/>
            </a:prstGeom>
            <a:ln w="12700">
              <a:gradFill>
                <a:gsLst>
                  <a:gs pos="0">
                    <a:srgbClr val="1A5478">
                      <a:alpha val="100000"/>
                    </a:srgbClr>
                  </a:gs>
                  <a:gs pos="100000">
                    <a:srgbClr val="1A5478">
                      <a:alpha val="0"/>
                    </a:srgbClr>
                  </a:gs>
                </a:gsLst>
                <a:lin ang="8100000"/>
              </a:gra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H="false" flipV="false" rot="0">
              <a:off x="1265802" y="3811944"/>
              <a:ext cx="9776216" cy="989508"/>
            </a:xfrm>
            <a:prstGeom prst="parallelogram">
              <a:avLst/>
            </a:prstGeom>
            <a:gradFill>
              <a:gsLst>
                <a:gs pos="0">
                  <a:srgbClr val="1A5478">
                    <a:alpha val="50980"/>
                    <a:lumMod val="75000"/>
                  </a:srgbClr>
                </a:gs>
                <a:gs pos="100000">
                  <a:srgbClr val="1A5478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flipH="false" flipV="false" rot="0">
              <a:off x="772009" y="5059191"/>
              <a:ext cx="9840164" cy="989508"/>
            </a:xfrm>
            <a:prstGeom prst="parallelogram">
              <a:avLst/>
            </a:prstGeom>
            <a:ln w="12700">
              <a:gradFill>
                <a:gsLst>
                  <a:gs pos="0">
                    <a:srgbClr val="1A5478">
                      <a:alpha val="100000"/>
                    </a:srgbClr>
                  </a:gs>
                  <a:gs pos="100000">
                    <a:srgbClr val="1A5478">
                      <a:alpha val="0"/>
                    </a:srgbClr>
                  </a:gs>
                </a:gsLst>
                <a:lin ang="8100000"/>
              </a:gradFill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 flipH="false" flipV="false" rot="0">
              <a:off x="902863" y="5144591"/>
              <a:ext cx="9776216" cy="989508"/>
            </a:xfrm>
            <a:prstGeom prst="parallelogram">
              <a:avLst/>
            </a:prstGeom>
            <a:gradFill>
              <a:gsLst>
                <a:gs pos="0">
                  <a:srgbClr val="1A5478">
                    <a:alpha val="50980"/>
                    <a:lumMod val="75000"/>
                  </a:srgbClr>
                </a:gs>
                <a:gs pos="100000">
                  <a:srgbClr val="1A5478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 flipH="false" flipV="false" rot="0">
              <a:off x="3776998" y="6636564"/>
              <a:ext cx="8415002" cy="221436"/>
            </a:xfrm>
            <a:custGeom>
              <a:rect b="b" l="l" r="r" t="t"/>
              <a:pathLst>
                <a:path h="221436" w="8415002">
                  <a:moveTo>
                    <a:pt x="55359" y="0"/>
                  </a:moveTo>
                  <a:lnTo>
                    <a:pt x="8415002" y="0"/>
                  </a:lnTo>
                  <a:lnTo>
                    <a:pt x="8415002" y="221436"/>
                  </a:lnTo>
                  <a:lnTo>
                    <a:pt x="0" y="221436"/>
                  </a:lnTo>
                  <a:close/>
                </a:path>
              </a:pathLst>
            </a:custGeom>
            <a:gradFill>
              <a:gsLst>
                <a:gs pos="0">
                  <a:srgbClr val="1A5478">
                    <a:alpha val="36078"/>
                    <a:lumMod val="75000"/>
                  </a:srgbClr>
                </a:gs>
                <a:gs pos="100000">
                  <a:srgbClr val="1A5478">
                    <a:alpha val="0"/>
                    <a:lumMod val="5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 flipH="false" flipV="false" rot="0">
              <a:off x="1" y="723901"/>
              <a:ext cx="8084627" cy="221436"/>
            </a:xfrm>
            <a:custGeom>
              <a:rect b="b" l="l" r="r" t="t"/>
              <a:pathLst>
                <a:path h="221436" w="8084627">
                  <a:moveTo>
                    <a:pt x="0" y="0"/>
                  </a:moveTo>
                  <a:lnTo>
                    <a:pt x="8084627" y="0"/>
                  </a:lnTo>
                  <a:lnTo>
                    <a:pt x="8084627" y="221436"/>
                  </a:lnTo>
                  <a:lnTo>
                    <a:pt x="0" y="221436"/>
                  </a:lnTo>
                  <a:close/>
                </a:path>
              </a:pathLst>
            </a:custGeom>
            <a:gradFill>
              <a:gsLst>
                <a:gs pos="0">
                  <a:srgbClr val="1A5478">
                    <a:alpha val="36078"/>
                    <a:lumMod val="75000"/>
                  </a:srgbClr>
                </a:gs>
                <a:gs pos="100000">
                  <a:srgbClr val="1A5478">
                    <a:alpha val="0"/>
                    <a:lumMod val="5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13" name="TextBox 13"/>
            <p:cNvSpPr txBox="true"/>
            <p:nvPr/>
          </p:nvSpPr>
          <p:spPr>
            <a:xfrm flipH="false" flipV="false" rot="0">
              <a:off x="660400" y="1130300"/>
              <a:ext cx="10858500" cy="76968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true" lang="en-US" sz="240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管控体系的基本构成</a:t>
              </a:r>
              <a:endParaRPr lang="en-US" sz="1100"/>
            </a:p>
          </p:txBody>
        </p:sp>
        <p:grpSp>
          <p:nvGrpSpPr>
            <p:cNvPr id="14" name="Group 14"/>
            <p:cNvGrpSpPr/>
            <p:nvPr/>
          </p:nvGrpSpPr>
          <p:grpSpPr>
            <a:xfrm flipH="false" flipV="false" rot="0">
              <a:off x="1674113" y="2157791"/>
              <a:ext cx="9196363" cy="1266926"/>
              <a:chOff x="1674113" y="2157791"/>
              <a:chExt cx="9196363" cy="1266926"/>
            </a:xfrm>
          </p:grpSpPr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2643188" y="2522933"/>
                <a:ext cx="8227288" cy="4276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6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管控体系名称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2643188" y="2974047"/>
                <a:ext cx="8227288" cy="45067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将管控体系称为“红绿灯系统”，形象易懂。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1674113" y="2157791"/>
                <a:ext cx="923701" cy="642114"/>
              </a:xfrm>
              <a:prstGeom prst="parallelogram">
                <a:avLst/>
              </a:prstGeom>
              <a:gradFill>
                <a:gsLst>
                  <a:gs pos="0">
                    <a:srgbClr val="1A5478">
                      <a:alpha val="100000"/>
                      <a:lumMod val="75000"/>
                    </a:srgbClr>
                  </a:gs>
                  <a:gs pos="88999">
                    <a:srgbClr val="1A5478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1A547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tru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flipH="false" flipV="false" rot="0">
              <a:off x="1254204" y="3490441"/>
              <a:ext cx="9139390" cy="1266925"/>
              <a:chOff x="1254204" y="3490441"/>
              <a:chExt cx="9139390" cy="1266925"/>
            </a:xfrm>
          </p:grpSpPr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2166306" y="3855584"/>
                <a:ext cx="8227288" cy="4276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6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管控体系作用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2166306" y="4306697"/>
                <a:ext cx="8227288" cy="45066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确保AI在安全范围内高效工作，保障代码质量。</a:t>
                </a:r>
                <a:endParaRPr lang="en-US" sz="1100"/>
              </a:p>
            </p:txBody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1254204" y="3490441"/>
                <a:ext cx="923701" cy="642115"/>
              </a:xfrm>
              <a:prstGeom prst="parallelogram">
                <a:avLst/>
              </a:prstGeom>
              <a:gradFill>
                <a:gsLst>
                  <a:gs pos="0">
                    <a:srgbClr val="1A5478">
                      <a:alpha val="100000"/>
                      <a:lumMod val="75000"/>
                    </a:srgbClr>
                  </a:gs>
                  <a:gs pos="88999">
                    <a:srgbClr val="1A5478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1A547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tru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flipH="false" flipV="false" rot="0">
              <a:off x="834295" y="4823090"/>
              <a:ext cx="9196361" cy="1266923"/>
              <a:chOff x="834295" y="4823090"/>
              <a:chExt cx="9196361" cy="1266923"/>
            </a:xfrm>
          </p:grpSpPr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1803368" y="5188231"/>
                <a:ext cx="8227288" cy="4276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6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管控体系目标</a:t>
                </a:r>
                <a:endParaRPr lang="en-US" sz="1100"/>
              </a:p>
            </p:txBody>
          </p:sp>
          <p:sp>
            <p:nvSpPr>
              <p:cNvPr id="24" name="TextBox 24"/>
              <p:cNvSpPr txBox="true"/>
              <p:nvPr/>
            </p:nvSpPr>
            <p:spPr>
              <a:xfrm flipH="false" flipV="false" rot="0">
                <a:off x="1803368" y="5639344"/>
                <a:ext cx="8227288" cy="45066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让AI代码符合业务需求，不触碰性能红线，提升开发稳定性。</a:t>
                </a:r>
                <a:endParaRPr lang="en-US" sz="1100"/>
              </a:p>
            </p:txBody>
          </p:sp>
          <p:sp>
            <p:nvSpPr>
              <p:cNvPr id="25" name="TextBox 25"/>
              <p:cNvSpPr txBox="true"/>
              <p:nvPr/>
            </p:nvSpPr>
            <p:spPr>
              <a:xfrm flipH="false" flipV="false" rot="0">
                <a:off x="834295" y="4823090"/>
                <a:ext cx="923701" cy="642114"/>
              </a:xfrm>
              <a:prstGeom prst="parallelogram">
                <a:avLst/>
              </a:prstGeom>
              <a:gradFill>
                <a:gsLst>
                  <a:gs pos="0">
                    <a:srgbClr val="1A5478">
                      <a:alpha val="100000"/>
                      <a:lumMod val="75000"/>
                    </a:srgbClr>
                  </a:gs>
                  <a:gs pos="88999">
                    <a:srgbClr val="1A5478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1A547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tru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26" name="TextBox 26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管控体系概述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58c0755-8ddf-4f6e-aed9-e47be2409c90"/>
          <p:cNvGrpSpPr/>
          <p:nvPr/>
        </p:nvGrpSpPr>
        <p:grpSpPr>
          <a:xfrm flipH="false" flipV="false" rot="0">
            <a:off x="402927" y="1130300"/>
            <a:ext cx="11115972" cy="5003800"/>
            <a:chOff x="402927" y="1130300"/>
            <a:chExt cx="11115972" cy="5003800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60399" y="1130300"/>
              <a:ext cx="10858500" cy="6480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管控体系的实施步骤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 flipH="true" flipV="false" rot="8760000">
              <a:off x="5669727" y="5662451"/>
              <a:ext cx="433952" cy="433954"/>
            </a:xfrm>
            <a:prstGeom prst="plus">
              <a:avLst>
                <a:gd fmla="val 35073" name="adj"/>
              </a:avLst>
            </a:prstGeom>
            <a:solidFill>
              <a:srgbClr val="1A5478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true" flipV="false" rot="8760000">
              <a:off x="6011580" y="5858356"/>
              <a:ext cx="89680" cy="153111"/>
            </a:xfrm>
            <a:prstGeom prst="rect">
              <a:avLst/>
            </a:prstGeom>
            <a:solidFill>
              <a:srgbClr val="2F2F2F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true" flipV="false" rot="8760000">
              <a:off x="5855553" y="5624843"/>
              <a:ext cx="89680" cy="153111"/>
            </a:xfrm>
            <a:prstGeom prst="rect">
              <a:avLst/>
            </a:prstGeom>
            <a:solidFill>
              <a:srgbClr val="2F2F2F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true" flipV="false" rot="8760000">
              <a:off x="6061753" y="5677347"/>
              <a:ext cx="63615" cy="127732"/>
            </a:xfrm>
            <a:prstGeom prst="rect">
              <a:avLst/>
            </a:prstGeom>
            <a:solidFill>
              <a:srgbClr val="2F2F2F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H="true" flipV="false" rot="8760000">
              <a:off x="402927" y="3227727"/>
              <a:ext cx="326714" cy="326715"/>
            </a:xfrm>
            <a:prstGeom prst="plus">
              <a:avLst>
                <a:gd fmla="val 35073" name="adj"/>
              </a:avLst>
            </a:prstGeom>
            <a:solidFill>
              <a:srgbClr val="1A5478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flipH="true" flipV="false" rot="8760000">
              <a:off x="660300" y="3375220"/>
              <a:ext cx="67518" cy="115274"/>
            </a:xfrm>
            <a:prstGeom prst="rect">
              <a:avLst/>
            </a:prstGeom>
            <a:solidFill>
              <a:srgbClr val="2F2F2F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 flipH="true" flipV="false" rot="8760000">
              <a:off x="542831" y="3199412"/>
              <a:ext cx="67518" cy="115274"/>
            </a:xfrm>
            <a:prstGeom prst="rect">
              <a:avLst/>
            </a:prstGeom>
            <a:solidFill>
              <a:srgbClr val="2F2F2F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 flipH="true" flipV="false" rot="8760000">
              <a:off x="698075" y="3238942"/>
              <a:ext cx="47894" cy="96167"/>
            </a:xfrm>
            <a:prstGeom prst="rect">
              <a:avLst/>
            </a:prstGeom>
            <a:solidFill>
              <a:srgbClr val="2F2F2F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2" name="Group 12"/>
            <p:cNvGrpSpPr/>
            <p:nvPr/>
          </p:nvGrpSpPr>
          <p:grpSpPr>
            <a:xfrm flipH="false" flipV="false" rot="0">
              <a:off x="1429087" y="2000383"/>
              <a:ext cx="4164926" cy="1968367"/>
              <a:chOff x="1429087" y="2000383"/>
              <a:chExt cx="4164926" cy="1968367"/>
            </a:xfrm>
          </p:grpSpPr>
          <p:sp>
            <p:nvSpPr>
              <p:cNvPr id="13" name="AutoShape 13"/>
              <p:cNvSpPr/>
              <p:nvPr/>
            </p:nvSpPr>
            <p:spPr>
              <a:xfrm flipH="false" flipV="false" rot="0">
                <a:off x="2205995" y="2000383"/>
                <a:ext cx="3388018" cy="1968367"/>
              </a:xfrm>
              <a:custGeom>
                <a:rect b="b" l="l" r="r" t="t"/>
                <a:pathLst>
                  <a:path h="1796506" w="3351583">
                    <a:moveTo>
                      <a:pt x="222246" y="0"/>
                    </a:moveTo>
                    <a:lnTo>
                      <a:pt x="285517" y="0"/>
                    </a:lnTo>
                    <a:lnTo>
                      <a:pt x="285517" y="130459"/>
                    </a:lnTo>
                    <a:cubicBezTo>
                      <a:pt x="285517" y="165389"/>
                      <a:pt x="313834" y="193706"/>
                      <a:pt x="348764" y="193706"/>
                    </a:cubicBezTo>
                    <a:lnTo>
                      <a:pt x="1746448" y="193706"/>
                    </a:lnTo>
                    <a:cubicBezTo>
                      <a:pt x="1781378" y="193706"/>
                      <a:pt x="1809695" y="165389"/>
                      <a:pt x="1809695" y="130459"/>
                    </a:cubicBezTo>
                    <a:lnTo>
                      <a:pt x="1809695" y="0"/>
                    </a:lnTo>
                    <a:lnTo>
                      <a:pt x="3129337" y="0"/>
                    </a:lnTo>
                    <a:cubicBezTo>
                      <a:pt x="3252080" y="0"/>
                      <a:pt x="3351583" y="99503"/>
                      <a:pt x="3351583" y="222246"/>
                    </a:cubicBezTo>
                    <a:lnTo>
                      <a:pt x="3351583" y="1574260"/>
                    </a:lnTo>
                    <a:cubicBezTo>
                      <a:pt x="3351583" y="1697003"/>
                      <a:pt x="3252080" y="1796506"/>
                      <a:pt x="3129337" y="1796506"/>
                    </a:cubicBezTo>
                    <a:lnTo>
                      <a:pt x="222246" y="1796506"/>
                    </a:lnTo>
                    <a:cubicBezTo>
                      <a:pt x="99503" y="1796506"/>
                      <a:pt x="0" y="1697003"/>
                      <a:pt x="0" y="1574260"/>
                    </a:cubicBezTo>
                    <a:lnTo>
                      <a:pt x="0" y="222246"/>
                    </a:lnTo>
                    <a:cubicBezTo>
                      <a:pt x="0" y="99503"/>
                      <a:pt x="99503" y="0"/>
                      <a:pt x="222246" y="0"/>
                    </a:cubicBezTo>
                    <a:close/>
                  </a:path>
                </a:pathLst>
              </a:cu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2343165" y="2297781"/>
                <a:ext cx="3113676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立死规矩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2343165" y="2945781"/>
                <a:ext cx="3113676" cy="864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制定13个规则文件，明确代码不能碰的红线，如线程优先级等。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1429087" y="2000383"/>
                <a:ext cx="648000" cy="648000"/>
              </a:xfrm>
              <a:prstGeom prst="roundRect">
                <a:avLst>
                  <a:gd fmla="val 10787" name="adj"/>
                </a:avLst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1A547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6585287" y="2000383"/>
              <a:ext cx="4164925" cy="1968367"/>
              <a:chOff x="6585287" y="2000383"/>
              <a:chExt cx="4164925" cy="1968367"/>
            </a:xfrm>
          </p:grpSpPr>
          <p:sp>
            <p:nvSpPr>
              <p:cNvPr id="18" name="AutoShape 18"/>
              <p:cNvSpPr/>
              <p:nvPr/>
            </p:nvSpPr>
            <p:spPr>
              <a:xfrm flipH="false" flipV="false" rot="0">
                <a:off x="7362194" y="2000383"/>
                <a:ext cx="3388018" cy="1968367"/>
              </a:xfrm>
              <a:custGeom>
                <a:rect b="b" l="l" r="r" t="t"/>
                <a:pathLst>
                  <a:path h="1796506" w="3351583">
                    <a:moveTo>
                      <a:pt x="222246" y="0"/>
                    </a:moveTo>
                    <a:lnTo>
                      <a:pt x="285517" y="0"/>
                    </a:lnTo>
                    <a:lnTo>
                      <a:pt x="285517" y="130459"/>
                    </a:lnTo>
                    <a:cubicBezTo>
                      <a:pt x="285517" y="165389"/>
                      <a:pt x="313834" y="193706"/>
                      <a:pt x="348764" y="193706"/>
                    </a:cubicBezTo>
                    <a:lnTo>
                      <a:pt x="1746448" y="193706"/>
                    </a:lnTo>
                    <a:cubicBezTo>
                      <a:pt x="1781378" y="193706"/>
                      <a:pt x="1809695" y="165389"/>
                      <a:pt x="1809695" y="130459"/>
                    </a:cubicBezTo>
                    <a:lnTo>
                      <a:pt x="1809695" y="0"/>
                    </a:lnTo>
                    <a:lnTo>
                      <a:pt x="3129337" y="0"/>
                    </a:lnTo>
                    <a:cubicBezTo>
                      <a:pt x="3252080" y="0"/>
                      <a:pt x="3351583" y="99503"/>
                      <a:pt x="3351583" y="222246"/>
                    </a:cubicBezTo>
                    <a:lnTo>
                      <a:pt x="3351583" y="1574260"/>
                    </a:lnTo>
                    <a:cubicBezTo>
                      <a:pt x="3351583" y="1697003"/>
                      <a:pt x="3252080" y="1796506"/>
                      <a:pt x="3129337" y="1796506"/>
                    </a:cubicBezTo>
                    <a:lnTo>
                      <a:pt x="222246" y="1796506"/>
                    </a:lnTo>
                    <a:cubicBezTo>
                      <a:pt x="99503" y="1796506"/>
                      <a:pt x="0" y="1697003"/>
                      <a:pt x="0" y="1574260"/>
                    </a:cubicBezTo>
                    <a:lnTo>
                      <a:pt x="0" y="222246"/>
                    </a:lnTo>
                    <a:cubicBezTo>
                      <a:pt x="0" y="99503"/>
                      <a:pt x="99503" y="0"/>
                      <a:pt x="222246" y="0"/>
                    </a:cubicBezTo>
                    <a:close/>
                  </a:path>
                </a:pathLst>
              </a:cu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7499365" y="2297781"/>
                <a:ext cx="3113676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开工前“安检”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7499365" y="2945781"/>
                <a:ext cx="3113676" cy="864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AI改代码前须回答5个问题，评估风险，有问题直接驳回。</a:t>
                </a:r>
                <a:endParaRPr lang="en-US" sz="1100"/>
              </a:p>
            </p:txBody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6585287" y="2000383"/>
                <a:ext cx="648000" cy="648000"/>
              </a:xfrm>
              <a:prstGeom prst="roundRect">
                <a:avLst>
                  <a:gd fmla="val 10787" name="adj"/>
                </a:avLst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1A547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flipH="false" flipV="false" rot="0">
              <a:off x="1429087" y="4165733"/>
              <a:ext cx="4164926" cy="1968367"/>
              <a:chOff x="1429087" y="4165733"/>
              <a:chExt cx="4164926" cy="1968367"/>
            </a:xfrm>
          </p:grpSpPr>
          <p:sp>
            <p:nvSpPr>
              <p:cNvPr id="23" name="AutoShape 23"/>
              <p:cNvSpPr/>
              <p:nvPr/>
            </p:nvSpPr>
            <p:spPr>
              <a:xfrm flipH="false" flipV="false" rot="0">
                <a:off x="2205995" y="4165733"/>
                <a:ext cx="3388018" cy="1968367"/>
              </a:xfrm>
              <a:custGeom>
                <a:rect b="b" l="l" r="r" t="t"/>
                <a:pathLst>
                  <a:path h="1796506" w="3351583">
                    <a:moveTo>
                      <a:pt x="222246" y="0"/>
                    </a:moveTo>
                    <a:lnTo>
                      <a:pt x="285517" y="0"/>
                    </a:lnTo>
                    <a:lnTo>
                      <a:pt x="285517" y="130459"/>
                    </a:lnTo>
                    <a:cubicBezTo>
                      <a:pt x="285517" y="165389"/>
                      <a:pt x="313834" y="193706"/>
                      <a:pt x="348764" y="193706"/>
                    </a:cubicBezTo>
                    <a:lnTo>
                      <a:pt x="1746448" y="193706"/>
                    </a:lnTo>
                    <a:cubicBezTo>
                      <a:pt x="1781378" y="193706"/>
                      <a:pt x="1809695" y="165389"/>
                      <a:pt x="1809695" y="130459"/>
                    </a:cubicBezTo>
                    <a:lnTo>
                      <a:pt x="1809695" y="0"/>
                    </a:lnTo>
                    <a:lnTo>
                      <a:pt x="3129337" y="0"/>
                    </a:lnTo>
                    <a:cubicBezTo>
                      <a:pt x="3252080" y="0"/>
                      <a:pt x="3351583" y="99503"/>
                      <a:pt x="3351583" y="222246"/>
                    </a:cubicBezTo>
                    <a:lnTo>
                      <a:pt x="3351583" y="1574260"/>
                    </a:lnTo>
                    <a:cubicBezTo>
                      <a:pt x="3351583" y="1697003"/>
                      <a:pt x="3252080" y="1796506"/>
                      <a:pt x="3129337" y="1796506"/>
                    </a:cubicBezTo>
                    <a:lnTo>
                      <a:pt x="222246" y="1796506"/>
                    </a:lnTo>
                    <a:cubicBezTo>
                      <a:pt x="99503" y="1796506"/>
                      <a:pt x="0" y="1697003"/>
                      <a:pt x="0" y="1574260"/>
                    </a:cubicBezTo>
                    <a:lnTo>
                      <a:pt x="0" y="222246"/>
                    </a:lnTo>
                    <a:cubicBezTo>
                      <a:pt x="0" y="99503"/>
                      <a:pt x="99503" y="0"/>
                      <a:pt x="222246" y="0"/>
                    </a:cubicBezTo>
                    <a:close/>
                  </a:path>
                </a:pathLst>
              </a:cu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4" name="TextBox 24"/>
              <p:cNvSpPr txBox="true"/>
              <p:nvPr/>
            </p:nvSpPr>
            <p:spPr>
              <a:xfrm flipH="false" flipV="false" rot="0">
                <a:off x="2343165" y="4463131"/>
                <a:ext cx="3113676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规矩打架听谁的</a:t>
                </a:r>
                <a:endParaRPr lang="en-US" sz="1100"/>
              </a:p>
            </p:txBody>
          </p:sp>
          <p:sp>
            <p:nvSpPr>
              <p:cNvPr id="25" name="TextBox 25"/>
              <p:cNvSpPr txBox="true"/>
              <p:nvPr/>
            </p:nvSpPr>
            <p:spPr>
              <a:xfrm flipH="false" flipV="false" rot="0">
                <a:off x="2343165" y="5111131"/>
                <a:ext cx="3113676" cy="864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规定安全延迟优先级高，规则冲突时AI需找人类工程师裁决。</a:t>
                </a:r>
                <a:endParaRPr lang="en-US" sz="1100"/>
              </a:p>
            </p:txBody>
          </p:sp>
          <p:sp>
            <p:nvSpPr>
              <p:cNvPr id="26" name="TextBox 26"/>
              <p:cNvSpPr txBox="true"/>
              <p:nvPr/>
            </p:nvSpPr>
            <p:spPr>
              <a:xfrm flipH="false" flipV="false" rot="0">
                <a:off x="1429087" y="4165733"/>
                <a:ext cx="648000" cy="648000"/>
              </a:xfrm>
              <a:prstGeom prst="roundRect">
                <a:avLst>
                  <a:gd fmla="val 10787" name="adj"/>
                </a:avLst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1A547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 flipH="false" flipV="false" rot="0">
              <a:off x="6585287" y="4165733"/>
              <a:ext cx="4164925" cy="1968367"/>
              <a:chOff x="6585287" y="4165733"/>
              <a:chExt cx="4164925" cy="1968367"/>
            </a:xfrm>
          </p:grpSpPr>
          <p:sp>
            <p:nvSpPr>
              <p:cNvPr id="28" name="AutoShape 28"/>
              <p:cNvSpPr/>
              <p:nvPr/>
            </p:nvSpPr>
            <p:spPr>
              <a:xfrm flipH="false" flipV="false" rot="0">
                <a:off x="7362194" y="4165733"/>
                <a:ext cx="3388018" cy="1968367"/>
              </a:xfrm>
              <a:custGeom>
                <a:rect b="b" l="l" r="r" t="t"/>
                <a:pathLst>
                  <a:path h="1796506" w="3351583">
                    <a:moveTo>
                      <a:pt x="222246" y="0"/>
                    </a:moveTo>
                    <a:lnTo>
                      <a:pt x="285517" y="0"/>
                    </a:lnTo>
                    <a:lnTo>
                      <a:pt x="285517" y="130459"/>
                    </a:lnTo>
                    <a:cubicBezTo>
                      <a:pt x="285517" y="165389"/>
                      <a:pt x="313834" y="193706"/>
                      <a:pt x="348764" y="193706"/>
                    </a:cubicBezTo>
                    <a:lnTo>
                      <a:pt x="1746448" y="193706"/>
                    </a:lnTo>
                    <a:cubicBezTo>
                      <a:pt x="1781378" y="193706"/>
                      <a:pt x="1809695" y="165389"/>
                      <a:pt x="1809695" y="130459"/>
                    </a:cubicBezTo>
                    <a:lnTo>
                      <a:pt x="1809695" y="0"/>
                    </a:lnTo>
                    <a:lnTo>
                      <a:pt x="3129337" y="0"/>
                    </a:lnTo>
                    <a:cubicBezTo>
                      <a:pt x="3252080" y="0"/>
                      <a:pt x="3351583" y="99503"/>
                      <a:pt x="3351583" y="222246"/>
                    </a:cubicBezTo>
                    <a:lnTo>
                      <a:pt x="3351583" y="1574260"/>
                    </a:lnTo>
                    <a:cubicBezTo>
                      <a:pt x="3351583" y="1697003"/>
                      <a:pt x="3252080" y="1796506"/>
                      <a:pt x="3129337" y="1796506"/>
                    </a:cubicBezTo>
                    <a:lnTo>
                      <a:pt x="222246" y="1796506"/>
                    </a:lnTo>
                    <a:cubicBezTo>
                      <a:pt x="99503" y="1796506"/>
                      <a:pt x="0" y="1697003"/>
                      <a:pt x="0" y="1574260"/>
                    </a:cubicBezTo>
                    <a:lnTo>
                      <a:pt x="0" y="222246"/>
                    </a:lnTo>
                    <a:cubicBezTo>
                      <a:pt x="0" y="99503"/>
                      <a:pt x="99503" y="0"/>
                      <a:pt x="222246" y="0"/>
                    </a:cubicBezTo>
                    <a:close/>
                  </a:path>
                </a:pathLst>
              </a:cu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9" name="TextBox 29"/>
              <p:cNvSpPr txBox="true"/>
              <p:nvPr/>
            </p:nvSpPr>
            <p:spPr>
              <a:xfrm flipH="false" flipV="false" rot="0">
                <a:off x="7499365" y="4463131"/>
                <a:ext cx="3113676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防止AI“金鱼记忆”</a:t>
                </a:r>
                <a:endParaRPr lang="en-US" sz="1100"/>
              </a:p>
            </p:txBody>
          </p:sp>
          <p:sp>
            <p:nvSpPr>
              <p:cNvPr id="30" name="TextBox 30"/>
              <p:cNvSpPr txBox="true"/>
              <p:nvPr/>
            </p:nvSpPr>
            <p:spPr>
              <a:xfrm flipH="false" flipV="false" rot="0">
                <a:off x="7499365" y="5111131"/>
                <a:ext cx="3113676" cy="864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将核心红线浓缩成口诀，定期让AI背诵，保持其记忆清晰。</a:t>
                </a:r>
                <a:endParaRPr lang="en-US" sz="1100"/>
              </a:p>
            </p:txBody>
          </p:sp>
          <p:sp>
            <p:nvSpPr>
              <p:cNvPr id="31" name="TextBox 31"/>
              <p:cNvSpPr txBox="true"/>
              <p:nvPr/>
            </p:nvSpPr>
            <p:spPr>
              <a:xfrm flipH="false" flipV="false" rot="0">
                <a:off x="6585287" y="4165733"/>
                <a:ext cx="648000" cy="648000"/>
              </a:xfrm>
              <a:prstGeom prst="roundRect">
                <a:avLst>
                  <a:gd fmla="val 10787" name="adj"/>
                </a:avLst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1A547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32" name="TextBox 32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具体管控措施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65bb417-e54e-4508-b447-be708857f7a6"/>
          <p:cNvGrpSpPr/>
          <p:nvPr/>
        </p:nvGrpSpPr>
        <p:grpSpPr>
          <a:xfrm flipH="false" flipV="false" rot="0">
            <a:off x="660400" y="1130300"/>
            <a:ext cx="11531600" cy="5727700"/>
            <a:chOff x="660400" y="1130300"/>
            <a:chExt cx="11531600" cy="5727700"/>
          </a:xfrm>
        </p:grpSpPr>
        <p:sp>
          <p:nvSpPr>
            <p:cNvPr id="3" name="AutoShape 3"/>
            <p:cNvSpPr/>
            <p:nvPr/>
          </p:nvSpPr>
          <p:spPr>
            <a:xfrm flipH="true" flipV="true" rot="0">
              <a:off x="3629025" y="6129338"/>
              <a:ext cx="8562975" cy="728662"/>
            </a:xfrm>
            <a:custGeom>
              <a:rect b="b" l="l" r="r" t="t"/>
              <a:pathLst>
                <a:path h="728662" w="8562975">
                  <a:moveTo>
                    <a:pt x="0" y="728662"/>
                  </a:moveTo>
                  <a:lnTo>
                    <a:pt x="2694755" y="728662"/>
                  </a:lnTo>
                  <a:lnTo>
                    <a:pt x="5200649" y="728662"/>
                  </a:lnTo>
                  <a:lnTo>
                    <a:pt x="7843640" y="728662"/>
                  </a:lnTo>
                  <a:lnTo>
                    <a:pt x="7895404" y="728662"/>
                  </a:lnTo>
                  <a:lnTo>
                    <a:pt x="8562975" y="728662"/>
                  </a:lnTo>
                  <a:lnTo>
                    <a:pt x="8562975" y="437706"/>
                  </a:lnTo>
                  <a:lnTo>
                    <a:pt x="8538207" y="431255"/>
                  </a:lnTo>
                  <a:cubicBezTo>
                    <a:pt x="8359109" y="374827"/>
                    <a:pt x="8225296" y="214280"/>
                    <a:pt x="8205769" y="19509"/>
                  </a:cubicBezTo>
                  <a:lnTo>
                    <a:pt x="8204796" y="0"/>
                  </a:lnTo>
                  <a:lnTo>
                    <a:pt x="7895404" y="0"/>
                  </a:lnTo>
                  <a:lnTo>
                    <a:pt x="7843640" y="0"/>
                  </a:lnTo>
                  <a:lnTo>
                    <a:pt x="5200649" y="0"/>
                  </a:lnTo>
                  <a:lnTo>
                    <a:pt x="2694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5478">
                <a:alpha val="100000"/>
              </a:srgbClr>
            </a:solidFill>
            <a:ln w="19050">
              <a:solidFill>
                <a:srgbClr val="FFFFFF">
                  <a:alpha val="2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true" rot="0">
              <a:off x="2589744" y="6004819"/>
              <a:ext cx="537331" cy="212199"/>
            </a:xfrm>
            <a:prstGeom prst="rect">
              <a:avLst/>
            </a:prstGeom>
            <a:solidFill>
              <a:srgbClr val="EE892D">
                <a:alpha val="100000"/>
              </a:srgbClr>
            </a:solidFill>
            <a:ln w="19050">
              <a:solidFill>
                <a:srgbClr val="FFFFFF">
                  <a:alpha val="2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true"/>
            <p:nvPr/>
          </p:nvSpPr>
          <p:spPr>
            <a:xfrm flipH="false" flipV="false" rot="0">
              <a:off x="660400" y="1130300"/>
              <a:ext cx="10858500" cy="84582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管控体系的技术实现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flipH="false" flipV="false" rot="0">
              <a:off x="660400" y="2513665"/>
              <a:ext cx="3435417" cy="3148634"/>
              <a:chOff x="660400" y="2513665"/>
              <a:chExt cx="2560286" cy="3148634"/>
            </a:xfrm>
          </p:grpSpPr>
          <p:sp>
            <p:nvSpPr>
              <p:cNvPr id="7" name="AutoShape 7"/>
              <p:cNvSpPr/>
              <p:nvPr/>
            </p:nvSpPr>
            <p:spPr>
              <a:xfrm flipH="false" flipV="false" rot="0">
                <a:off x="660400" y="2768600"/>
                <a:ext cx="2560286" cy="2893699"/>
              </a:xfrm>
              <a:prstGeom prst="rect">
                <a:avLst/>
              </a:prstGeom>
              <a:ln w="19050">
                <a:solidFill>
                  <a:srgbClr val="FFFFFF">
                    <a:alpha val="2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754011" y="3111120"/>
                <a:ext cx="2373064" cy="6792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代码专属标签</a:t>
                </a:r>
                <a:endParaRPr lang="en-US" sz="1100"/>
              </a:p>
            </p:txBody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754011" y="3790407"/>
                <a:ext cx="2373064" cy="16596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在关键函数加“禁区”标签，提醒AI不能随意修改。</a:t>
                </a:r>
                <a:endParaRPr lang="en-US" sz="1100"/>
              </a:p>
            </p:txBody>
          </p:sp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1686788" y="2513665"/>
                <a:ext cx="501637" cy="597455"/>
              </a:xfrm>
              <a:prstGeom prst="rect">
                <a:avLst/>
              </a:prstGeom>
              <a:solidFill>
                <a:srgbClr val="0F69A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flipH="false" flipV="false" rot="0">
              <a:off x="4371942" y="2513665"/>
              <a:ext cx="3435417" cy="3148634"/>
              <a:chOff x="3426471" y="2513665"/>
              <a:chExt cx="2560286" cy="3148634"/>
            </a:xfrm>
          </p:grpSpPr>
          <p:sp>
            <p:nvSpPr>
              <p:cNvPr id="12" name="AutoShape 12"/>
              <p:cNvSpPr/>
              <p:nvPr/>
            </p:nvSpPr>
            <p:spPr>
              <a:xfrm flipH="false" flipV="false" rot="0">
                <a:off x="3426471" y="2768600"/>
                <a:ext cx="2560286" cy="2893699"/>
              </a:xfrm>
              <a:prstGeom prst="rect">
                <a:avLst/>
              </a:prstGeom>
              <a:ln w="19050">
                <a:solidFill>
                  <a:srgbClr val="FFFFFF">
                    <a:alpha val="2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3520082" y="3111120"/>
                <a:ext cx="2373064" cy="6792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自动检查脚本</a:t>
                </a:r>
                <a:endParaRPr lang="en-US" sz="1100"/>
              </a:p>
            </p:txBody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3520082" y="3790407"/>
                <a:ext cx="2373064" cy="16596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配自动检查脚本，违规代码无法提交，减轻测试人员负担。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4455796" y="2513665"/>
                <a:ext cx="501637" cy="597455"/>
              </a:xfrm>
              <a:prstGeom prst="rect">
                <a:avLst/>
              </a:prstGeom>
              <a:solidFill>
                <a:srgbClr val="EE892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flipH="false" flipV="false" rot="0">
              <a:off x="8083483" y="2513665"/>
              <a:ext cx="3435417" cy="3148634"/>
              <a:chOff x="6192542" y="2513665"/>
              <a:chExt cx="2560286" cy="3148634"/>
            </a:xfrm>
          </p:grpSpPr>
          <p:sp>
            <p:nvSpPr>
              <p:cNvPr id="17" name="AutoShape 17"/>
              <p:cNvSpPr/>
              <p:nvPr/>
            </p:nvSpPr>
            <p:spPr>
              <a:xfrm flipH="false" flipV="false" rot="0">
                <a:off x="6192542" y="2768600"/>
                <a:ext cx="2560286" cy="2893699"/>
              </a:xfrm>
              <a:prstGeom prst="rect">
                <a:avLst/>
              </a:prstGeom>
              <a:ln w="19050">
                <a:solidFill>
                  <a:srgbClr val="FFFFFF">
                    <a:alpha val="2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6286153" y="3111120"/>
                <a:ext cx="2373064" cy="6792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工具集成方式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6286153" y="3790407"/>
                <a:ext cx="2373064" cy="16596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将管控工具集成到开发流程，实现无缝衔接，提高管控效率。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7218930" y="2513665"/>
                <a:ext cx="501637" cy="597455"/>
              </a:xfrm>
              <a:prstGeom prst="rect">
                <a:avLst/>
              </a:prstGeom>
              <a:solidFill>
                <a:srgbClr val="0F69A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落地工具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6094234" y="1840730"/>
            <a:ext cx="5424666" cy="146025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8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实施效果与价值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6094234" y="3312842"/>
            <a:ext cx="5424666" cy="75909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展示管控体系实施后的成果和意义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7592e89-b1f7-4d52-b6b1-3a66f710108b"/>
          <p:cNvGrpSpPr/>
          <p:nvPr/>
        </p:nvGrpSpPr>
        <p:grpSpPr>
          <a:xfrm flipH="false" flipV="false" rot="0">
            <a:off x="660400" y="1243980"/>
            <a:ext cx="10858501" cy="4370041"/>
            <a:chOff x="660400" y="1243980"/>
            <a:chExt cx="10858501" cy="4370041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796259" y="2200109"/>
              <a:ext cx="2009647" cy="3413912"/>
            </a:xfrm>
            <a:prstGeom prst="flowChartOffpageConnector">
              <a:avLst/>
            </a:prstGeom>
            <a:solidFill>
              <a:srgbClr val="2F2F2F">
                <a:alpha val="100000"/>
              </a:srgbClr>
            </a:solidFill>
            <a:ln w="12700">
              <a:solidFill>
                <a:srgbClr val="1A547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732760" y="2368962"/>
              <a:ext cx="1976278" cy="2982789"/>
              <a:chOff x="732760" y="2368962"/>
              <a:chExt cx="1976278" cy="2982789"/>
            </a:xfrm>
          </p:grpSpPr>
          <p:sp>
            <p:nvSpPr>
              <p:cNvPr id="5" name="TextBox 5"/>
              <p:cNvSpPr txBox="true"/>
              <p:nvPr/>
            </p:nvSpPr>
            <p:spPr>
              <a:xfrm flipH="false" flipV="false" rot="0">
                <a:off x="893135" y="3257712"/>
                <a:ext cx="1815900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安全零事故</a:t>
                </a:r>
                <a:endParaRPr lang="en-US" sz="1100"/>
              </a:p>
            </p:txBody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893138" y="4153744"/>
                <a:ext cx="1815900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运行30天，0次触碰性能红线，0次破坏架构，保障硬件安全。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732760" y="2368962"/>
                <a:ext cx="1815904" cy="572508"/>
              </a:xfrm>
              <a:prstGeom prst="homePlate">
                <a:avLst/>
              </a:prstGeom>
              <a:gradFill>
                <a:gsLst>
                  <a:gs pos="0">
                    <a:srgbClr val="1A5478">
                      <a:alpha val="100000"/>
                      <a:lumMod val="60000"/>
                      <a:lumOff val="40000"/>
                    </a:srgbClr>
                  </a:gs>
                  <a:gs pos="75000">
                    <a:srgbClr val="1A5478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sp>
          <p:nvSpPr>
            <p:cNvPr id="8" name="AutoShape 8"/>
            <p:cNvSpPr/>
            <p:nvPr/>
          </p:nvSpPr>
          <p:spPr>
            <a:xfrm flipH="false" flipV="false" rot="0">
              <a:off x="2975030" y="2200109"/>
              <a:ext cx="2009646" cy="3413912"/>
            </a:xfrm>
            <a:prstGeom prst="flowChartOffpageConnector">
              <a:avLst/>
            </a:prstGeom>
            <a:solidFill>
              <a:srgbClr val="2F2F2F">
                <a:alpha val="100000"/>
              </a:srgbClr>
            </a:solidFill>
            <a:ln w="12700">
              <a:solidFill>
                <a:srgbClr val="1A547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9" name="Group 9"/>
            <p:cNvGrpSpPr/>
            <p:nvPr/>
          </p:nvGrpSpPr>
          <p:grpSpPr>
            <a:xfrm flipH="false" flipV="false" rot="0">
              <a:off x="2896079" y="2368962"/>
              <a:ext cx="1991729" cy="2982789"/>
              <a:chOff x="2896079" y="2368962"/>
              <a:chExt cx="1991729" cy="2982789"/>
            </a:xfrm>
          </p:grpSpPr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3071908" y="3257712"/>
                <a:ext cx="1815900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代码更轻了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3071908" y="4153744"/>
                <a:ext cx="1815900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通信代码从500多行优化到200行，砍掉58%冗余，降低出错概率。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2896079" y="2368962"/>
                <a:ext cx="1815902" cy="572508"/>
              </a:xfrm>
              <a:prstGeom prst="homePlate">
                <a:avLst/>
              </a:prstGeom>
              <a:gradFill>
                <a:gsLst>
                  <a:gs pos="0">
                    <a:srgbClr val="0F69A2">
                      <a:alpha val="100000"/>
                      <a:lumMod val="60000"/>
                      <a:lumOff val="40000"/>
                    </a:srgbClr>
                  </a:gs>
                  <a:gs pos="75000">
                    <a:srgbClr val="0F69A2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sp>
          <p:nvSpPr>
            <p:cNvPr id="13" name="AutoShape 13"/>
            <p:cNvSpPr/>
            <p:nvPr/>
          </p:nvSpPr>
          <p:spPr>
            <a:xfrm flipH="false" flipV="false" rot="0">
              <a:off x="5153802" y="2200109"/>
              <a:ext cx="2009646" cy="3413912"/>
            </a:xfrm>
            <a:prstGeom prst="flowChartOffpageConnector">
              <a:avLst/>
            </a:prstGeom>
            <a:solidFill>
              <a:srgbClr val="2F2F2F">
                <a:alpha val="100000"/>
              </a:srgbClr>
            </a:solidFill>
            <a:ln w="12700">
              <a:solidFill>
                <a:srgbClr val="1A547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4" name="Group 14"/>
            <p:cNvGrpSpPr/>
            <p:nvPr/>
          </p:nvGrpSpPr>
          <p:grpSpPr>
            <a:xfrm flipH="false" flipV="false" rot="0">
              <a:off x="5074851" y="2368960"/>
              <a:ext cx="1991729" cy="2982789"/>
              <a:chOff x="5074851" y="2368960"/>
              <a:chExt cx="1991729" cy="2982789"/>
            </a:xfrm>
          </p:grpSpPr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5250680" y="3257710"/>
                <a:ext cx="1815900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越用越稳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5250680" y="4153742"/>
                <a:ext cx="1815900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第一周冲突6次，第四周仅1次，AI逐渐适应规矩，工作更顺手。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5074851" y="2368960"/>
                <a:ext cx="1815902" cy="572508"/>
              </a:xfrm>
              <a:prstGeom prst="homePlate">
                <a:avLst/>
              </a:prstGeom>
              <a:gradFill>
                <a:gsLst>
                  <a:gs pos="0">
                    <a:srgbClr val="EE892D">
                      <a:alpha val="100000"/>
                      <a:lumMod val="60000"/>
                      <a:lumOff val="40000"/>
                    </a:srgbClr>
                  </a:gs>
                  <a:gs pos="75000">
                    <a:srgbClr val="EE892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sp>
          <p:nvSpPr>
            <p:cNvPr id="18" name="AutoShape 18"/>
            <p:cNvSpPr/>
            <p:nvPr/>
          </p:nvSpPr>
          <p:spPr>
            <a:xfrm flipH="false" flipV="false" rot="0">
              <a:off x="7330483" y="2200112"/>
              <a:ext cx="2009646" cy="3413909"/>
            </a:xfrm>
            <a:prstGeom prst="flowChartOffpageConnector">
              <a:avLst/>
            </a:prstGeom>
            <a:solidFill>
              <a:srgbClr val="2F2F2F">
                <a:alpha val="100000"/>
              </a:srgbClr>
            </a:solidFill>
            <a:ln w="12700">
              <a:solidFill>
                <a:srgbClr val="1A547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9" name="Group 19"/>
            <p:cNvGrpSpPr/>
            <p:nvPr/>
          </p:nvGrpSpPr>
          <p:grpSpPr>
            <a:xfrm flipH="false" flipV="false" rot="0">
              <a:off x="7253621" y="2368961"/>
              <a:ext cx="1989640" cy="2982792"/>
              <a:chOff x="7253621" y="2368961"/>
              <a:chExt cx="1989640" cy="2982792"/>
            </a:xfrm>
          </p:grpSpPr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7427361" y="3257714"/>
                <a:ext cx="1815900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老项目改造成功</a:t>
                </a:r>
                <a:endParaRPr lang="en-US" sz="1100"/>
              </a:p>
            </p:txBody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7427361" y="4153747"/>
                <a:ext cx="1815900" cy="11980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在75个旧文件基础上渐进式改造，无需推翻老代码，节省成本。</a:t>
                </a:r>
                <a:endParaRPr lang="en-US" sz="1100"/>
              </a:p>
            </p:txBody>
          </p:sp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7253621" y="2368961"/>
                <a:ext cx="1811725" cy="572507"/>
              </a:xfrm>
              <a:prstGeom prst="homePlate">
                <a:avLst/>
              </a:prstGeom>
              <a:gradFill>
                <a:gsLst>
                  <a:gs pos="0">
                    <a:srgbClr val="F1C337">
                      <a:alpha val="100000"/>
                      <a:lumMod val="60000"/>
                      <a:lumOff val="40000"/>
                    </a:srgbClr>
                  </a:gs>
                  <a:gs pos="75000">
                    <a:srgbClr val="F1C337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  <p:sp>
          <p:nvSpPr>
            <p:cNvPr id="23" name="AutoShape 23"/>
            <p:cNvSpPr/>
            <p:nvPr/>
          </p:nvSpPr>
          <p:spPr>
            <a:xfrm flipH="false" flipV="false" rot="0">
              <a:off x="9509255" y="2200112"/>
              <a:ext cx="2009646" cy="3413909"/>
            </a:xfrm>
            <a:prstGeom prst="flowChartOffpageConnector">
              <a:avLst/>
            </a:prstGeom>
            <a:solidFill>
              <a:srgbClr val="2F2F2F">
                <a:alpha val="100000"/>
              </a:srgbClr>
            </a:solidFill>
            <a:ln w="12700">
              <a:solidFill>
                <a:srgbClr val="1A547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24" name="Group 24"/>
            <p:cNvGrpSpPr/>
            <p:nvPr/>
          </p:nvGrpSpPr>
          <p:grpSpPr>
            <a:xfrm flipH="false" flipV="false" rot="0">
              <a:off x="9430305" y="2368961"/>
              <a:ext cx="1991730" cy="2982792"/>
              <a:chOff x="9430305" y="2368961"/>
              <a:chExt cx="1991730" cy="2982792"/>
            </a:xfrm>
          </p:grpSpPr>
          <p:sp>
            <p:nvSpPr>
              <p:cNvPr id="25" name="TextBox 25"/>
              <p:cNvSpPr txBox="true"/>
              <p:nvPr/>
            </p:nvSpPr>
            <p:spPr>
              <a:xfrm flipH="false" flipV="false" rot="0">
                <a:off x="9606134" y="3257714"/>
                <a:ext cx="1815901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成熟度等级</a:t>
                </a:r>
                <a:endParaRPr lang="en-US" sz="1100"/>
              </a:p>
            </p:txBody>
          </p:sp>
          <p:sp>
            <p:nvSpPr>
              <p:cNvPr id="26" name="TextBox 26"/>
              <p:cNvSpPr txBox="true"/>
              <p:nvPr/>
            </p:nvSpPr>
            <p:spPr>
              <a:xfrm flipH="false" flipV="false" rot="0">
                <a:off x="9606134" y="4153747"/>
                <a:ext cx="1815901" cy="11980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false" i="false" lang="en-US" strike="noStrike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项目达到量化管理级，风险可视可拦截，开发更可控。</a:t>
                </a:r>
                <a:endParaRPr lang="en-US" sz="1100"/>
              </a:p>
            </p:txBody>
          </p:sp>
          <p:sp>
            <p:nvSpPr>
              <p:cNvPr id="27" name="TextBox 27"/>
              <p:cNvSpPr txBox="true"/>
              <p:nvPr/>
            </p:nvSpPr>
            <p:spPr>
              <a:xfrm flipH="false" flipV="false" rot="0">
                <a:off x="9430305" y="2368961"/>
                <a:ext cx="1815903" cy="572507"/>
              </a:xfrm>
              <a:prstGeom prst="homePlate">
                <a:avLst/>
              </a:prstGeom>
              <a:gradFill>
                <a:gsLst>
                  <a:gs pos="0">
                    <a:srgbClr val="590800">
                      <a:alpha val="100000"/>
                      <a:lumMod val="60000"/>
                      <a:lumOff val="40000"/>
                    </a:srgbClr>
                  </a:gs>
                  <a:gs pos="75000">
                    <a:srgbClr val="59080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24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</p:grpSp>
        <p:sp>
          <p:nvSpPr>
            <p:cNvPr id="28" name="TextBox 28"/>
            <p:cNvSpPr txBox="true"/>
            <p:nvPr/>
          </p:nvSpPr>
          <p:spPr>
            <a:xfrm flipH="false" flipV="false" rot="0">
              <a:off x="660400" y="1243980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管控体系运行的实际成果</a:t>
              </a:r>
              <a:endParaRPr lang="en-US" sz="1100"/>
            </a:p>
          </p:txBody>
        </p:sp>
      </p:grpSp>
      <p:sp>
        <p:nvSpPr>
          <p:cNvPr id="29" name="TextBox 29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实施效果展示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953c5d0-b901-4848-8075-dd932da2bad7"/>
          <p:cNvGrpSpPr/>
          <p:nvPr/>
        </p:nvGrpSpPr>
        <p:grpSpPr>
          <a:xfrm flipH="false" flipV="false" rot="0">
            <a:off x="660400" y="1257300"/>
            <a:ext cx="10858500" cy="4078627"/>
            <a:chOff x="660400" y="1257300"/>
            <a:chExt cx="10858500" cy="4078627"/>
          </a:xfrm>
        </p:grpSpPr>
        <p:grpSp>
          <p:nvGrpSpPr>
            <p:cNvPr id="3" name="Group 3"/>
            <p:cNvGrpSpPr/>
            <p:nvPr/>
          </p:nvGrpSpPr>
          <p:grpSpPr>
            <a:xfrm flipH="false" flipV="false" rot="0">
              <a:off x="1883299" y="2841723"/>
              <a:ext cx="2525451" cy="2494204"/>
              <a:chOff x="1883299" y="2841723"/>
              <a:chExt cx="2525451" cy="2494204"/>
            </a:xfrm>
          </p:grpSpPr>
          <p:sp>
            <p:nvSpPr>
              <p:cNvPr id="4" name="TextBox 4"/>
              <p:cNvSpPr txBox="true"/>
              <p:nvPr/>
            </p:nvSpPr>
            <p:spPr>
              <a:xfrm flipH="false" flipV="false" rot="0">
                <a:off x="2735845" y="2841723"/>
                <a:ext cx="809305" cy="809305"/>
              </a:xfrm>
              <a:prstGeom prst="roundRect">
                <a:avLst>
                  <a:gd fmla="val 50000" name="adj"/>
                </a:avLst>
              </a:prstGeom>
              <a:solidFill>
                <a:srgbClr val="1A547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3200">
                    <a:ln/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01</a:t>
                </a:r>
                <a:endParaRPr lang="en-US" sz="1100"/>
              </a:p>
            </p:txBody>
          </p:sp>
          <p:sp>
            <p:nvSpPr>
              <p:cNvPr id="5" name="TextBox 5"/>
              <p:cNvSpPr txBox="true"/>
              <p:nvPr/>
            </p:nvSpPr>
            <p:spPr>
              <a:xfrm flipH="false" flipV="false" rot="0">
                <a:off x="1883299" y="3889091"/>
                <a:ext cx="2525451" cy="47194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108000" lIns="108000" rIns="108000" rtlCol="false" tIns="10800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填补空白</a:t>
                </a:r>
                <a:endParaRPr lang="en-US" sz="1100"/>
              </a:p>
            </p:txBody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1883299" y="4361031"/>
                <a:ext cx="2525451" cy="97489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108000" lIns="108000" rIns="108000" rtlCol="false" tIns="10800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市面上针对工业实时控制系统的AI代码管控方案稀缺，本项目独一份。</a:t>
                </a:r>
                <a:endParaRPr lang="en-US" sz="1100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flipH="false" flipV="false" rot="0">
              <a:off x="4865949" y="2841722"/>
              <a:ext cx="2525451" cy="2494205"/>
              <a:chOff x="4865949" y="2841722"/>
              <a:chExt cx="2525451" cy="2494205"/>
            </a:xfrm>
          </p:grpSpPr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5718495" y="2841722"/>
                <a:ext cx="809305" cy="809305"/>
              </a:xfrm>
              <a:prstGeom prst="roundRect">
                <a:avLst>
                  <a:gd fmla="val 50000" name="adj"/>
                </a:avLst>
              </a:prstGeom>
              <a:solidFill>
                <a:srgbClr val="F0F0F0">
                  <a:alpha val="14901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3200">
                    <a:ln/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02</a:t>
                </a:r>
                <a:endParaRPr lang="en-US" sz="1100"/>
              </a:p>
            </p:txBody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4865949" y="3889091"/>
                <a:ext cx="2525451" cy="47194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108000" lIns="108000" rIns="108000" rtlCol="false" tIns="10800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降本增效</a:t>
                </a:r>
                <a:endParaRPr lang="en-US" sz="1100"/>
              </a:p>
            </p:txBody>
          </p:sp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4865949" y="4361031"/>
                <a:ext cx="2525451" cy="97489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108000" lIns="108000" rIns="108000" rtlCol="false" tIns="10800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硬件少调参，测试少回归，研发少修Bug，提升团队整体效率。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flipH="false" flipV="false" rot="0">
              <a:off x="7848599" y="2841722"/>
              <a:ext cx="2525451" cy="2494205"/>
              <a:chOff x="7848599" y="2841722"/>
              <a:chExt cx="2525451" cy="2494205"/>
            </a:xfrm>
          </p:grpSpPr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8701145" y="2841722"/>
                <a:ext cx="809305" cy="809305"/>
              </a:xfrm>
              <a:prstGeom prst="roundRect">
                <a:avLst>
                  <a:gd fmla="val 50000" name="adj"/>
                </a:avLst>
              </a:prstGeom>
              <a:solidFill>
                <a:srgbClr val="1A547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3200">
                    <a:ln/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03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7848599" y="3889091"/>
                <a:ext cx="2525451" cy="47194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108000" lIns="108000" rIns="108000" rtlCol="false" tIns="10800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可复制性</a:t>
                </a:r>
                <a:endParaRPr lang="en-US" sz="1100"/>
              </a:p>
            </p:txBody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7848599" y="4361031"/>
                <a:ext cx="2525451" cy="97489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108000" lIns="108000" rIns="108000" rtlCol="false" tIns="10800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流程可套用于新项目或改造其他老机器人，具有广泛应用前景。</a:t>
                </a:r>
                <a:endParaRPr lang="en-US" sz="1100"/>
              </a:p>
            </p:txBody>
          </p:sp>
        </p:grpSp>
        <p:sp>
          <p:nvSpPr>
            <p:cNvPr id="15" name="TextBox 15"/>
            <p:cNvSpPr txBox="true"/>
            <p:nvPr/>
          </p:nvSpPr>
          <p:spPr>
            <a:xfrm flipH="false" flipV="false" rot="0">
              <a:off x="660400" y="1257300"/>
              <a:ext cx="10858500" cy="6985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管控体系带来的多方面价值</a:t>
              </a:r>
              <a:endParaRPr lang="en-US" sz="1100"/>
            </a:p>
          </p:txBody>
        </p:sp>
      </p:grpSp>
      <p:sp>
        <p:nvSpPr>
          <p:cNvPr id="16" name="TextBox 16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方案价值总结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6094234" y="1840730"/>
            <a:ext cx="5424666" cy="146025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8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展望与问答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6094234" y="3312842"/>
            <a:ext cx="5424666" cy="75909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展望未来并解答听众疑问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751e43f-fbe9-44a1-985c-e3ca5c22c50f"/>
          <p:cNvGrpSpPr/>
          <p:nvPr/>
        </p:nvGrpSpPr>
        <p:grpSpPr>
          <a:xfrm flipH="false" flipV="false" rot="0">
            <a:off x="695325" y="1040108"/>
            <a:ext cx="10801350" cy="5184183"/>
            <a:chOff x="695325" y="1040108"/>
            <a:chExt cx="10801350" cy="5184183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695325" y="1040108"/>
              <a:ext cx="10801350" cy="5184183"/>
            </a:xfrm>
            <a:custGeom>
              <a:rect b="b" l="l" r="r" t="t"/>
              <a:pathLst>
                <a:path h="5184183" w="10801350">
                  <a:moveTo>
                    <a:pt x="443220" y="0"/>
                  </a:moveTo>
                  <a:lnTo>
                    <a:pt x="1138467" y="0"/>
                  </a:lnTo>
                  <a:lnTo>
                    <a:pt x="1303588" y="147234"/>
                  </a:lnTo>
                  <a:lnTo>
                    <a:pt x="3754333" y="147234"/>
                  </a:lnTo>
                  <a:lnTo>
                    <a:pt x="3910763" y="7750"/>
                  </a:lnTo>
                  <a:lnTo>
                    <a:pt x="5997575" y="7750"/>
                  </a:lnTo>
                  <a:lnTo>
                    <a:pt x="6200775" y="7750"/>
                  </a:lnTo>
                  <a:lnTo>
                    <a:pt x="10245152" y="7750"/>
                  </a:lnTo>
                  <a:lnTo>
                    <a:pt x="10792658" y="495946"/>
                  </a:lnTo>
                  <a:lnTo>
                    <a:pt x="10792658" y="3556861"/>
                  </a:lnTo>
                  <a:lnTo>
                    <a:pt x="10679682" y="3657599"/>
                  </a:lnTo>
                  <a:lnTo>
                    <a:pt x="10679682" y="4587499"/>
                  </a:lnTo>
                  <a:lnTo>
                    <a:pt x="10801350" y="4695987"/>
                  </a:lnTo>
                  <a:lnTo>
                    <a:pt x="10801350" y="4990454"/>
                  </a:lnTo>
                  <a:lnTo>
                    <a:pt x="10592776" y="5176434"/>
                  </a:lnTo>
                  <a:lnTo>
                    <a:pt x="9723717" y="5176434"/>
                  </a:lnTo>
                  <a:lnTo>
                    <a:pt x="9549906" y="5021451"/>
                  </a:lnTo>
                  <a:lnTo>
                    <a:pt x="7159995" y="5021451"/>
                  </a:lnTo>
                  <a:lnTo>
                    <a:pt x="6977493" y="5184183"/>
                  </a:lnTo>
                  <a:lnTo>
                    <a:pt x="6200775" y="5184183"/>
                  </a:lnTo>
                  <a:lnTo>
                    <a:pt x="5997575" y="5184183"/>
                  </a:lnTo>
                  <a:lnTo>
                    <a:pt x="608342" y="5184183"/>
                  </a:lnTo>
                  <a:lnTo>
                    <a:pt x="26073" y="4664990"/>
                  </a:lnTo>
                  <a:lnTo>
                    <a:pt x="26073" y="3386380"/>
                  </a:lnTo>
                  <a:lnTo>
                    <a:pt x="139049" y="3285642"/>
                  </a:lnTo>
                  <a:lnTo>
                    <a:pt x="139049" y="2076773"/>
                  </a:lnTo>
                  <a:lnTo>
                    <a:pt x="0" y="1952787"/>
                  </a:lnTo>
                  <a:lnTo>
                    <a:pt x="0" y="395207"/>
                  </a:lnTo>
                  <a:close/>
                </a:path>
              </a:pathLst>
            </a:custGeom>
            <a:solidFill>
              <a:srgbClr val="F0F0F0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true"/>
            <p:nvPr/>
          </p:nvSpPr>
          <p:spPr>
            <a:xfrm flipH="false" flipV="false" rot="0">
              <a:off x="2795404" y="1716476"/>
              <a:ext cx="6601193" cy="1214199"/>
            </a:xfrm>
            <a:prstGeom prst="trapezoid">
              <a:avLst>
                <a:gd fmla="val 39524" name="adj"/>
              </a:avLst>
            </a:prstGeom>
            <a:gradFill>
              <a:gsLst>
                <a:gs pos="0">
                  <a:srgbClr val="1A5478">
                    <a:alpha val="100000"/>
                    <a:lumMod val="60000"/>
                    <a:lumOff val="40000"/>
                  </a:srgbClr>
                </a:gs>
                <a:gs pos="50000">
                  <a:srgbClr val="1A5478">
                    <a:alpha val="100000"/>
                  </a:srgbClr>
                </a:gs>
              </a:gsLst>
              <a:lin ang="2700000"/>
            </a:gradFill>
            <a:ln>
              <a:headEnd type="none"/>
              <a:tailEnd type="none"/>
            </a:ln>
          </p:spPr>
          <p:txBody>
            <a:bodyPr anchor="ctr" anchorCtr="false" bIns="108000" lIns="108000" rIns="108000" rtlCol="false" tIns="108000" vert="horz" wrap="square"/>
            <a:lstStyle/>
            <a:p>
              <a:pPr algn="ctr">
                <a:lnSpc>
                  <a:spcPct val="120000"/>
                </a:lnSpc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对后续工作的规划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 flipH="false" flipV="true" rot="0">
              <a:off x="9076740" y="1716476"/>
              <a:ext cx="989798" cy="1214199"/>
            </a:xfrm>
            <a:prstGeom prst="parallelogram">
              <a:avLst>
                <a:gd fmla="val 49726" name="adj"/>
              </a:avLst>
            </a:prstGeom>
            <a:solidFill>
              <a:srgbClr val="F0F0F0">
                <a:alpha val="14901"/>
              </a:srgbClr>
            </a:solidFill>
            <a:ln w="12700">
              <a:solidFill>
                <a:srgbClr val="0F69A2">
                  <a:alpha val="5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true" rot="0">
              <a:off x="9759479" y="1716476"/>
              <a:ext cx="989798" cy="1214199"/>
            </a:xfrm>
            <a:prstGeom prst="parallelogram">
              <a:avLst>
                <a:gd fmla="val 49726" name="adj"/>
              </a:avLst>
            </a:prstGeom>
            <a:solidFill>
              <a:srgbClr val="F0F0F0">
                <a:alpha val="14901"/>
              </a:srgbClr>
            </a:solidFill>
            <a:ln w="12700">
              <a:solidFill>
                <a:srgbClr val="0F69A2">
                  <a:alpha val="3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false" flipV="false" rot="0">
              <a:off x="2125461" y="1716476"/>
              <a:ext cx="989798" cy="1214199"/>
            </a:xfrm>
            <a:prstGeom prst="parallelogram">
              <a:avLst>
                <a:gd fmla="val 49726" name="adj"/>
              </a:avLst>
            </a:prstGeom>
            <a:solidFill>
              <a:srgbClr val="F0F0F0">
                <a:alpha val="14901"/>
              </a:srgbClr>
            </a:solidFill>
            <a:ln w="12700">
              <a:solidFill>
                <a:srgbClr val="0F69A2">
                  <a:alpha val="5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H="false" flipV="false" rot="0">
              <a:off x="1442723" y="1716476"/>
              <a:ext cx="989798" cy="1214199"/>
            </a:xfrm>
            <a:prstGeom prst="parallelogram">
              <a:avLst>
                <a:gd fmla="val 49726" name="adj"/>
              </a:avLst>
            </a:prstGeom>
            <a:solidFill>
              <a:srgbClr val="F0F0F0">
                <a:alpha val="14901"/>
              </a:srgbClr>
            </a:solidFill>
            <a:ln w="12700">
              <a:solidFill>
                <a:srgbClr val="0F69A2">
                  <a:alpha val="3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9" name="Group 9"/>
            <p:cNvGrpSpPr/>
            <p:nvPr/>
          </p:nvGrpSpPr>
          <p:grpSpPr>
            <a:xfrm flipH="false" flipV="false" rot="0">
              <a:off x="2040295" y="3379491"/>
              <a:ext cx="2172594" cy="2261616"/>
              <a:chOff x="2040295" y="3379491"/>
              <a:chExt cx="2172594" cy="2261616"/>
            </a:xfrm>
          </p:grpSpPr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2040295" y="3379491"/>
                <a:ext cx="2172594" cy="560381"/>
              </a:xfrm>
              <a:prstGeom prst="snip1Rect">
                <a:avLst/>
              </a:prstGeom>
              <a:solidFill>
                <a:srgbClr val="2F2F2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2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2040295" y="4576004"/>
                <a:ext cx="2172594" cy="10651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对接硬件测试工具，实现真机自动校验，进一步提升代码可靠性。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2040295" y="4103371"/>
                <a:ext cx="2172594" cy="4726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后续计划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flipH="false" flipV="false" rot="0">
              <a:off x="5009704" y="3379491"/>
              <a:ext cx="2172594" cy="2261616"/>
              <a:chOff x="5009704" y="3379491"/>
              <a:chExt cx="2172594" cy="2261616"/>
            </a:xfrm>
          </p:grpSpPr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5009704" y="3379491"/>
                <a:ext cx="2172594" cy="560381"/>
              </a:xfrm>
              <a:prstGeom prst="snip1Rect">
                <a:avLst/>
              </a:prstGeom>
              <a:solidFill>
                <a:srgbClr val="2F2F2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2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5009704" y="4576004"/>
                <a:ext cx="2172594" cy="10651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不断优化管控体系，适应更多业务场景，提高AI代码开发质量。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5009704" y="4103371"/>
                <a:ext cx="2172594" cy="4726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持续改进方向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7979112" y="3379491"/>
              <a:ext cx="2172594" cy="2261616"/>
              <a:chOff x="7979112" y="3379491"/>
              <a:chExt cx="2172594" cy="2261616"/>
            </a:xfrm>
          </p:grpSpPr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7979112" y="3379491"/>
                <a:ext cx="2172594" cy="560381"/>
              </a:xfrm>
              <a:prstGeom prst="snip1Rect">
                <a:avLst/>
              </a:prstGeom>
              <a:solidFill>
                <a:srgbClr val="2F2F2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true" i="false" lang="en-US" sz="2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7979112" y="4576004"/>
                <a:ext cx="2172594" cy="10651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关注前沿技术，探索新的管控方法，保持技术领先。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7979112" y="4103371"/>
                <a:ext cx="2172594" cy="4726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技术探索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未来展望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c98eb0a-7a5c-4dfa-ab89-790c86ac4c83"/>
          <p:cNvGrpSpPr/>
          <p:nvPr/>
        </p:nvGrpSpPr>
        <p:grpSpPr>
          <a:xfrm flipH="false" flipV="false" rot="0">
            <a:off x="660400" y="1130300"/>
            <a:ext cx="10858500" cy="4811183"/>
            <a:chOff x="660400" y="1130300"/>
            <a:chExt cx="10858500" cy="4811183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660400" y="2049670"/>
              <a:ext cx="10858500" cy="1185332"/>
            </a:xfrm>
            <a:prstGeom prst="roundRect">
              <a:avLst>
                <a:gd fmla="val 12700" name="adj"/>
              </a:avLst>
            </a:prstGeom>
            <a:solidFill>
              <a:srgbClr val="F0F0F0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10632281" y="2282335"/>
              <a:ext cx="720000" cy="720000"/>
            </a:xfrm>
            <a:prstGeom prst="roundRect">
              <a:avLst>
                <a:gd fmla="val 13100" name="adj"/>
              </a:avLst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false" flipV="false" rot="0">
              <a:off x="660400" y="3402910"/>
              <a:ext cx="10858500" cy="1185332"/>
            </a:xfrm>
            <a:prstGeom prst="roundRect">
              <a:avLst>
                <a:gd fmla="val 12700" name="adj"/>
              </a:avLst>
            </a:prstGeom>
            <a:solidFill>
              <a:srgbClr val="F0F0F0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false" rot="0">
              <a:off x="10632281" y="3635575"/>
              <a:ext cx="720000" cy="720000"/>
            </a:xfrm>
            <a:prstGeom prst="roundRect">
              <a:avLst>
                <a:gd fmla="val 13100" name="adj"/>
              </a:avLst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false" flipV="false" rot="0">
              <a:off x="660400" y="4756151"/>
              <a:ext cx="10858500" cy="1185332"/>
            </a:xfrm>
            <a:prstGeom prst="roundRect">
              <a:avLst>
                <a:gd fmla="val 12700" name="adj"/>
              </a:avLst>
            </a:prstGeom>
            <a:solidFill>
              <a:srgbClr val="F0F0F0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H="false" flipV="false" rot="0">
              <a:off x="10632281" y="4988816"/>
              <a:ext cx="720000" cy="720000"/>
            </a:xfrm>
            <a:prstGeom prst="roundRect">
              <a:avLst>
                <a:gd fmla="val 13100" name="adj"/>
              </a:avLst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TextBox 9"/>
            <p:cNvSpPr txBox="true"/>
            <p:nvPr/>
          </p:nvSpPr>
          <p:spPr>
            <a:xfrm flipH="false" flipV="false" rot="0">
              <a:off x="660400" y="1130300"/>
              <a:ext cx="10858500" cy="78431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fals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解答听众可能提出的疑问</a:t>
              </a:r>
              <a:endParaRPr lang="en-US" sz="1100"/>
            </a:p>
          </p:txBody>
        </p:sp>
        <p:grpSp>
          <p:nvGrpSpPr>
            <p:cNvPr id="10" name="Group 10"/>
            <p:cNvGrpSpPr/>
            <p:nvPr/>
          </p:nvGrpSpPr>
          <p:grpSpPr>
            <a:xfrm flipH="false" flipV="false" rot="0">
              <a:off x="839719" y="2268559"/>
              <a:ext cx="10512562" cy="747552"/>
              <a:chOff x="839719" y="2268559"/>
              <a:chExt cx="10512562" cy="747552"/>
            </a:xfrm>
          </p:grpSpPr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839719" y="2268559"/>
                <a:ext cx="7731761" cy="74755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总工提问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10632281" y="2282335"/>
                <a:ext cx="720000" cy="720000"/>
              </a:xfrm>
              <a:prstGeom prst="roundRect">
                <a:avLst>
                  <a:gd fmla="val 13100" name="adj"/>
                </a:avLst>
              </a:prstGeom>
              <a:gradFill>
                <a:gsLst>
                  <a:gs pos="0">
                    <a:srgbClr val="1A5478">
                      <a:alpha val="36078"/>
                    </a:srgbClr>
                  </a:gs>
                  <a:gs pos="63999">
                    <a:srgbClr val="1A5478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fals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flipH="false" flipV="false" rot="0">
              <a:off x="839719" y="3621799"/>
              <a:ext cx="10512562" cy="747552"/>
              <a:chOff x="839719" y="3621799"/>
              <a:chExt cx="10512562" cy="747552"/>
            </a:xfrm>
          </p:grpSpPr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839719" y="3621799"/>
                <a:ext cx="7731761" cy="74755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硬件工程师提问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10632281" y="3635575"/>
                <a:ext cx="720000" cy="720000"/>
              </a:xfrm>
              <a:prstGeom prst="roundRect">
                <a:avLst>
                  <a:gd fmla="val 13100" name="adj"/>
                </a:avLst>
              </a:prstGeom>
              <a:gradFill>
                <a:gsLst>
                  <a:gs pos="0">
                    <a:srgbClr val="1A5478">
                      <a:alpha val="36078"/>
                    </a:srgbClr>
                  </a:gs>
                  <a:gs pos="63999">
                    <a:srgbClr val="1A5478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fals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flipH="false" flipV="false" rot="0">
              <a:off x="839719" y="4975040"/>
              <a:ext cx="10512562" cy="747552"/>
              <a:chOff x="839719" y="4975040"/>
              <a:chExt cx="10512562" cy="747552"/>
            </a:xfrm>
          </p:grpSpPr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10632281" y="4988816"/>
                <a:ext cx="720000" cy="720000"/>
              </a:xfrm>
              <a:prstGeom prst="roundRect">
                <a:avLst>
                  <a:gd fmla="val 13100" name="adj"/>
                </a:avLst>
              </a:prstGeom>
              <a:gradFill>
                <a:gsLst>
                  <a:gs pos="0">
                    <a:srgbClr val="1A5478">
                      <a:alpha val="36078"/>
                    </a:srgbClr>
                  </a:gs>
                  <a:gs pos="63999">
                    <a:srgbClr val="1A5478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fals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839719" y="4975040"/>
                <a:ext cx="7731761" cy="74755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测试人员提问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常见问答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660400" y="1089025"/>
            <a:ext cx="4764087" cy="23399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400">
                <a:ln w="19050"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660400" y="5580102"/>
            <a:ext cx="4764088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000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b="false" i="false" lang="en-US" sz="120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报告人名称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660400" y="5857101"/>
            <a:ext cx="4764088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none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>
                <a:latin typeface="微软雅黑"/>
                <a:ea typeface="微软雅黑"/>
                <a:cs typeface="微软雅黑"/>
              </a:rPr>
              <a:t>20xx.xx.xx</a:t>
            </a:r>
            <a:endParaRPr lang="en-US" sz="1100"/>
          </a:p>
        </p:txBody>
      </p:sp>
      <p:pic xmlns:r="http://schemas.openxmlformats.org/officeDocument/2006/relationships">
        <p:nvPicPr>
          <p:cNvPr id="99999" name="WatermarkAigc"/>
          <p:cNvPicPr>
            <a:picLocks noChangeAspect="1"/>
          </p:cNvPicPr>
          <p:nvPr/>
        </p:nvPicPr>
        <p:blipFill>
          <a:blip r:embed="rIdWatermark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5ab2b3fa-008a-4e66-9396-7501592bd7d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ab2b3fa-008a-4e66-9396-7501592bd7d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